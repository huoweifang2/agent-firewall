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4d6fa368ad42f5" /><Relationship Type="http://schemas.openxmlformats.org/officeDocument/2006/relationships/extended-properties" Target="/docProps/app.xml" Id="R8a997da4ba91480c" /><Relationship Type="http://schemas.openxmlformats.org/officeDocument/2006/relationships/officeDocument" Target="/ppt/presentation.xml" Id="Rf79ad977cc5745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e5428055c44316"/>
  </p:sldMasterIdLst>
  <p:notesMasterIdLst>
    <p:notesMasterId xmlns:r="http://schemas.openxmlformats.org/officeDocument/2006/relationships" r:id="R51ecef8840c444b1"/>
  </p:notesMasterIdLst>
  <p:sldIdLst>
    <p:sldId xmlns:r="http://schemas.openxmlformats.org/officeDocument/2006/relationships" id="256" r:id="R05ad721716c34cf2"/>
    <p:sldId xmlns:r="http://schemas.openxmlformats.org/officeDocument/2006/relationships" id="257" r:id="R1fc6e4ecf21d4fdc"/>
    <p:sldId xmlns:r="http://schemas.openxmlformats.org/officeDocument/2006/relationships" id="258" r:id="Rb19937e683244e45"/>
    <p:sldId xmlns:r="http://schemas.openxmlformats.org/officeDocument/2006/relationships" id="259" r:id="R1235570d0fa54faf"/>
    <p:sldId xmlns:r="http://schemas.openxmlformats.org/officeDocument/2006/relationships" id="260" r:id="Rb28b1acaff8b412c"/>
    <p:sldId xmlns:r="http://schemas.openxmlformats.org/officeDocument/2006/relationships" id="261" r:id="R1db7053ea507465c"/>
    <p:sldId xmlns:r="http://schemas.openxmlformats.org/officeDocument/2006/relationships" id="262" r:id="R6218dbcb38ee4ef7"/>
    <p:sldId xmlns:r="http://schemas.openxmlformats.org/officeDocument/2006/relationships" id="263" r:id="R64b0d237d91c4d4f"/>
    <p:sldId xmlns:r="http://schemas.openxmlformats.org/officeDocument/2006/relationships" id="264" r:id="R31f942d4d27e43bb"/>
    <p:sldId xmlns:r="http://schemas.openxmlformats.org/officeDocument/2006/relationships" id="265" r:id="R95fb9745871e44ef"/>
    <p:sldId xmlns:r="http://schemas.openxmlformats.org/officeDocument/2006/relationships" id="266" r:id="R2503b0a98c0947d9"/>
    <p:sldId xmlns:r="http://schemas.openxmlformats.org/officeDocument/2006/relationships" id="267" r:id="Rd70e4e02c47d4a74"/>
    <p:sldId xmlns:r="http://schemas.openxmlformats.org/officeDocument/2006/relationships" id="268" r:id="R80fcd7f021324c04"/>
    <p:sldId xmlns:r="http://schemas.openxmlformats.org/officeDocument/2006/relationships" id="269" r:id="Rd5509e35a7d74273"/>
    <p:sldId xmlns:r="http://schemas.openxmlformats.org/officeDocument/2006/relationships" id="270" r:id="R234383b6fee9485d"/>
    <p:sldId xmlns:r="http://schemas.openxmlformats.org/officeDocument/2006/relationships" id="271" r:id="R5c185e2cb9614e78"/>
    <p:sldId xmlns:r="http://schemas.openxmlformats.org/officeDocument/2006/relationships" id="272" r:id="Rd55dcf46932e48a9"/>
    <p:sldId xmlns:r="http://schemas.openxmlformats.org/officeDocument/2006/relationships" id="273" r:id="Ra07b33d793e149e0"/>
    <p:sldId xmlns:r="http://schemas.openxmlformats.org/officeDocument/2006/relationships" id="274" r:id="Ra302ec099d014449"/>
    <p:sldId xmlns:r="http://schemas.openxmlformats.org/officeDocument/2006/relationships" id="275" r:id="Re1216abbf7f1491e"/>
    <p:sldId xmlns:r="http://schemas.openxmlformats.org/officeDocument/2006/relationships" id="276" r:id="Rb0d27f19056749bf"/>
    <p:sldId xmlns:r="http://schemas.openxmlformats.org/officeDocument/2006/relationships" id="277" r:id="Rd59a104438214475"/>
    <p:sldId xmlns:r="http://schemas.openxmlformats.org/officeDocument/2006/relationships" id="278" r:id="R65f99fe4e4f24f86"/>
    <p:sldId xmlns:r="http://schemas.openxmlformats.org/officeDocument/2006/relationships" id="279" r:id="R2f59283941c34952"/>
    <p:sldId xmlns:r="http://schemas.openxmlformats.org/officeDocument/2006/relationships" id="280" r:id="R80a24ef08b19419b"/>
    <p:sldId xmlns:r="http://schemas.openxmlformats.org/officeDocument/2006/relationships" id="281" r:id="R1f022b1888ed4050"/>
    <p:sldId xmlns:r="http://schemas.openxmlformats.org/officeDocument/2006/relationships" id="282" r:id="R28fbaba0f96840c1"/>
    <p:sldId xmlns:r="http://schemas.openxmlformats.org/officeDocument/2006/relationships" id="283" r:id="R38dda95cacd6450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e5428055c44316" /><Relationship Type="http://schemas.openxmlformats.org/officeDocument/2006/relationships/theme" Target="/ppt/theme/theme1.xml" Id="R807902fcabcd4c24" /><Relationship Type="http://schemas.openxmlformats.org/officeDocument/2006/relationships/notesMaster" Target="/ppt/notesMasters/notesMaster1.xml" Id="R51ecef8840c444b1" /><Relationship Type="http://schemas.openxmlformats.org/officeDocument/2006/relationships/presProps" Target="/ppt/presProps.xml" Id="R40fd4ed8f4e344ba" /><Relationship Type="http://schemas.openxmlformats.org/officeDocument/2006/relationships/viewProps" Target="/ppt/viewProps.xml" Id="R5ed9aa40f3f94d4f" /><Relationship Type="http://schemas.openxmlformats.org/officeDocument/2006/relationships/tableStyles" Target="/ppt/tableStyles.xml" Id="R70c84a523c4843de" /><Relationship Type="http://schemas.openxmlformats.org/officeDocument/2006/relationships/slide" Target="/ppt/slides/slide1.xml" Id="R05ad721716c34cf2" /><Relationship Type="http://schemas.openxmlformats.org/officeDocument/2006/relationships/slide" Target="/ppt/slides/slide2.xml" Id="R1fc6e4ecf21d4fdc" /><Relationship Type="http://schemas.openxmlformats.org/officeDocument/2006/relationships/slide" Target="/ppt/slides/slide3.xml" Id="Rb19937e683244e45" /><Relationship Type="http://schemas.openxmlformats.org/officeDocument/2006/relationships/slide" Target="/ppt/slides/slide4.xml" Id="R1235570d0fa54faf" /><Relationship Type="http://schemas.openxmlformats.org/officeDocument/2006/relationships/slide" Target="/ppt/slides/slide5.xml" Id="Rb28b1acaff8b412c" /><Relationship Type="http://schemas.openxmlformats.org/officeDocument/2006/relationships/slide" Target="/ppt/slides/slide6.xml" Id="R1db7053ea507465c" /><Relationship Type="http://schemas.openxmlformats.org/officeDocument/2006/relationships/slide" Target="/ppt/slides/slide7.xml" Id="R6218dbcb38ee4ef7" /><Relationship Type="http://schemas.openxmlformats.org/officeDocument/2006/relationships/slide" Target="/ppt/slides/slide8.xml" Id="R64b0d237d91c4d4f" /><Relationship Type="http://schemas.openxmlformats.org/officeDocument/2006/relationships/slide" Target="/ppt/slides/slide9.xml" Id="R31f942d4d27e43bb" /><Relationship Type="http://schemas.openxmlformats.org/officeDocument/2006/relationships/slide" Target="/ppt/slides/slide10.xml" Id="R95fb9745871e44ef" /><Relationship Type="http://schemas.openxmlformats.org/officeDocument/2006/relationships/slide" Target="/ppt/slides/slide11.xml" Id="R2503b0a98c0947d9" /><Relationship Type="http://schemas.openxmlformats.org/officeDocument/2006/relationships/slide" Target="/ppt/slides/slide12.xml" Id="Rd70e4e02c47d4a74" /><Relationship Type="http://schemas.openxmlformats.org/officeDocument/2006/relationships/slide" Target="/ppt/slides/slide13.xml" Id="R80fcd7f021324c04" /><Relationship Type="http://schemas.openxmlformats.org/officeDocument/2006/relationships/slide" Target="/ppt/slides/slide14.xml" Id="Rd5509e35a7d74273" /><Relationship Type="http://schemas.openxmlformats.org/officeDocument/2006/relationships/slide" Target="/ppt/slides/slide15.xml" Id="R234383b6fee9485d" /><Relationship Type="http://schemas.openxmlformats.org/officeDocument/2006/relationships/slide" Target="/ppt/slides/slide16.xml" Id="R5c185e2cb9614e78" /><Relationship Type="http://schemas.openxmlformats.org/officeDocument/2006/relationships/slide" Target="/ppt/slides/slide17.xml" Id="Rd55dcf46932e48a9" /><Relationship Type="http://schemas.openxmlformats.org/officeDocument/2006/relationships/slide" Target="/ppt/slides/slide18.xml" Id="Ra07b33d793e149e0" /><Relationship Type="http://schemas.openxmlformats.org/officeDocument/2006/relationships/slide" Target="/ppt/slides/slide19.xml" Id="Ra302ec099d014449" /><Relationship Type="http://schemas.openxmlformats.org/officeDocument/2006/relationships/slide" Target="/ppt/slides/slide20.xml" Id="Re1216abbf7f1491e" /><Relationship Type="http://schemas.openxmlformats.org/officeDocument/2006/relationships/slide" Target="/ppt/slides/slide21.xml" Id="Rb0d27f19056749bf" /><Relationship Type="http://schemas.openxmlformats.org/officeDocument/2006/relationships/slide" Target="/ppt/slides/slide22.xml" Id="Rd59a104438214475" /><Relationship Type="http://schemas.openxmlformats.org/officeDocument/2006/relationships/slide" Target="/ppt/slides/slide23.xml" Id="R65f99fe4e4f24f86" /><Relationship Type="http://schemas.openxmlformats.org/officeDocument/2006/relationships/slide" Target="/ppt/slides/slide24.xml" Id="R2f59283941c34952" /><Relationship Type="http://schemas.openxmlformats.org/officeDocument/2006/relationships/slide" Target="/ppt/slides/slide25.xml" Id="R80a24ef08b19419b" /><Relationship Type="http://schemas.openxmlformats.org/officeDocument/2006/relationships/slide" Target="/ppt/slides/slide26.xml" Id="R1f022b1888ed4050" /><Relationship Type="http://schemas.openxmlformats.org/officeDocument/2006/relationships/slide" Target="/ppt/slides/slide27.xml" Id="R28fbaba0f96840c1" /><Relationship Type="http://schemas.openxmlformats.org/officeDocument/2006/relationships/slide" Target="/ppt/slides/slide28.xml" Id="R38dda95cacd645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5b320c669ce47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fb6ce4917a4707" /><Relationship Type="http://schemas.openxmlformats.org/officeDocument/2006/relationships/notesMaster" Target="/ppt/notesMasters/notesMaster1.xml" Id="R9b61c80a72d546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860c1320cd4c3b" /><Relationship Type="http://schemas.openxmlformats.org/officeDocument/2006/relationships/notesMaster" Target="/ppt/notesMasters/notesMaster1.xml" Id="Ra9e40c606be84b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286bbd67524d5b" /><Relationship Type="http://schemas.openxmlformats.org/officeDocument/2006/relationships/notesMaster" Target="/ppt/notesMasters/notesMaster1.xml" Id="Rdb536980e14c47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f5deee1dbb475b" /><Relationship Type="http://schemas.openxmlformats.org/officeDocument/2006/relationships/notesMaster" Target="/ppt/notesMasters/notesMaster1.xml" Id="Rfe9b0982cb1841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c743b8af624a71" /><Relationship Type="http://schemas.openxmlformats.org/officeDocument/2006/relationships/notesMaster" Target="/ppt/notesMasters/notesMaster1.xml" Id="R201609fd008f41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554cb9a8d74bda" /><Relationship Type="http://schemas.openxmlformats.org/officeDocument/2006/relationships/notesMaster" Target="/ppt/notesMasters/notesMaster1.xml" Id="R2239651de46a42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b2d70bb6544c4e" /><Relationship Type="http://schemas.openxmlformats.org/officeDocument/2006/relationships/notesMaster" Target="/ppt/notesMasters/notesMaster1.xml" Id="Rcd41faea071249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6b28c6b1ec409f" /><Relationship Type="http://schemas.openxmlformats.org/officeDocument/2006/relationships/notesMaster" Target="/ppt/notesMasters/notesMaster1.xml" Id="R079afec0a06745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507166297c495b" /><Relationship Type="http://schemas.openxmlformats.org/officeDocument/2006/relationships/notesMaster" Target="/ppt/notesMasters/notesMaster1.xml" Id="R8be6430cb78643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896a9f53694572" /><Relationship Type="http://schemas.openxmlformats.org/officeDocument/2006/relationships/notesMaster" Target="/ppt/notesMasters/notesMaster1.xml" Id="R79888cdf85c84d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9332a91c5b445f" /><Relationship Type="http://schemas.openxmlformats.org/officeDocument/2006/relationships/notesMaster" Target="/ppt/notesMasters/notesMaster1.xml" Id="R3855aeb2b5bd414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19302bc3bf4004" /><Relationship Type="http://schemas.openxmlformats.org/officeDocument/2006/relationships/notesMaster" Target="/ppt/notesMasters/notesMaster1.xml" Id="R1be8d9cfeb9243b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9274c639af4a56" /><Relationship Type="http://schemas.openxmlformats.org/officeDocument/2006/relationships/notesMaster" Target="/ppt/notesMasters/notesMaster1.xml" Id="R892a887c1f4e4e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221221ff1ad4104" /><Relationship Type="http://schemas.openxmlformats.org/officeDocument/2006/relationships/notesMaster" Target="/ppt/notesMasters/notesMaster1.xml" Id="Rb6188d6183e54dd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f87d1b6f1ce4485" /><Relationship Type="http://schemas.openxmlformats.org/officeDocument/2006/relationships/notesMaster" Target="/ppt/notesMasters/notesMaster1.xml" Id="Rad74b19cf7ae4e6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164358dfdc04f8e" /><Relationship Type="http://schemas.openxmlformats.org/officeDocument/2006/relationships/notesMaster" Target="/ppt/notesMasters/notesMaster1.xml" Id="R92e9ac5c8cc348d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58be02a62fb4560" /><Relationship Type="http://schemas.openxmlformats.org/officeDocument/2006/relationships/notesMaster" Target="/ppt/notesMasters/notesMaster1.xml" Id="R891797b4e9e5494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c54202ec8e6438b" /><Relationship Type="http://schemas.openxmlformats.org/officeDocument/2006/relationships/notesMaster" Target="/ppt/notesMasters/notesMaster1.xml" Id="R1e5acfb5d3d6481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369a8316dee47c9" /><Relationship Type="http://schemas.openxmlformats.org/officeDocument/2006/relationships/notesMaster" Target="/ppt/notesMasters/notesMaster1.xml" Id="Rdd51df9c9bbb483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a28d9c529254dfe" /><Relationship Type="http://schemas.openxmlformats.org/officeDocument/2006/relationships/notesMaster" Target="/ppt/notesMasters/notesMaster1.xml" Id="R6bdd178c89e240d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7fc547d76ab451d" /><Relationship Type="http://schemas.openxmlformats.org/officeDocument/2006/relationships/notesMaster" Target="/ppt/notesMasters/notesMaster1.xml" Id="Rd3af9127edec4a5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a6b43b5828e4b4b" /><Relationship Type="http://schemas.openxmlformats.org/officeDocument/2006/relationships/notesMaster" Target="/ppt/notesMasters/notesMaster1.xml" Id="R3af7758a5a904e7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b424a73c9c14327" /><Relationship Type="http://schemas.openxmlformats.org/officeDocument/2006/relationships/notesMaster" Target="/ppt/notesMasters/notesMaster1.xml" Id="Rcfa375830ed446c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559b1c380ef4463" /><Relationship Type="http://schemas.openxmlformats.org/officeDocument/2006/relationships/notesMaster" Target="/ppt/notesMasters/notesMaster1.xml" Id="R546e1d52b5ce400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715aa9da00d4537" /><Relationship Type="http://schemas.openxmlformats.org/officeDocument/2006/relationships/notesMaster" Target="/ppt/notesMasters/notesMaster1.xml" Id="R173c141d60414ed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147a0276f994da3" /><Relationship Type="http://schemas.openxmlformats.org/officeDocument/2006/relationships/notesMaster" Target="/ppt/notesMasters/notesMaster1.xml" Id="Raf658af7630743e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d1a9b58c4b341a4" /><Relationship Type="http://schemas.openxmlformats.org/officeDocument/2006/relationships/notesMaster" Target="/ppt/notesMasters/notesMaster1.xml" Id="R8082421ceb574c9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a8b4e0909f94a27" /><Relationship Type="http://schemas.openxmlformats.org/officeDocument/2006/relationships/notesMaster" Target="/ppt/notesMasters/notesMaster1.xml" Id="R37a7ff63ffde47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开场介绍论文题目和系统定位。</a:t>
            </a:r>
          </a:p>
          <a:p xmlns:a="http://schemas.openxmlformats.org/drawingml/2006/main">
            <a:r>
              <a:t>强调这是一个围绕 OpenClaw 工具调用链路构建的本机安全防火墙 Web 应用系统。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先讲为什么需要 Agent-Firewall，再讲系统如何实现，最后用实验和复测证明边界。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本页解释研究动机：LLM 应用从问答走向能够调用工具的智能体系统。</a:t>
            </a:r>
          </a:p>
          <a:p xmlns:a="http://schemas.openxmlformats.org/drawingml/2006/main">
            <a:r>
              <a:t>核心变化是模型输出可能转化为本机文件、账号或外部服务上的真实操作。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提出三个核心问题：输入是否被判断，工具调用是否被校验，工具输出是否可追踪。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本页对应论文研究目标：为 OpenClaw 工具调用智能体提供本机安全防火墙 Web 应用系统。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威胁模型的核心是信任边界：自然语言输入、模型生成的计划和外部工具返回内容都可能携带攻击意图。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把论文中的功能需求归纳为四类：输入、工具、输出、证据。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讲清楚三部分：Proxy Service、Agent Runtime、Frontend，以及 OpenClaw provider。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本页把受保护运行链路讲成一条主路径，强调 /agent/openclaw/direct 不是安全链路证据。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 Proxy 的意义：把输入扫描前置成可复用 HTTP 安全边界。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本页说明 Agent Runtime 不是普通转发服务，它负责把工具计划变成可门控的执行步骤。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前端控制台是系统可用性证据：攻击演练、审批、Trace 和工具绑定都能在页面上完成。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从这里进入方法部分：强调系统组合，而不是单个规则或模型判断。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说明扫描流水线的输入和输出，重点是统一映射为 ALLOW/MODIFY/BLOCK。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讲清楚决策含义：ALLOW 放行，MODIFY 清洗，BLOCK 拦截或进入审批。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本页是方法重点之一，讲它连接模型计划和真实工具副作用。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强调工具返回内容也不可信，不能原样进入模型上下文。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讲人机协同：不是所有风险都简单拒绝，高敏工具可暂停等待审批。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这是系统的证明机制：安全边界不只是在代码里，还能在 Trace 中被老师复核。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讲清楚数据口径，避免把项目回归场景和公开 benchmark 混在一起。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本页用数据说明样本构成，回答为什么 direct baseline 只有 20/358。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这是实验部分最重要的一页，注意强调 balanced 到 strict 持平，paranoid 继续减少漏报。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强调这是基础正确性证据，不是只看端到端效果。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讲回放的价值：验证跨工具计划、执行前门控、执行后清洗和 Trace 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强调这不是官方 benchmark 分数，而是本项目可执行映射场景。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注意如实说明：真实链路复测只覆盖 openclaw_summarize 和输入阻断，不能外推到所有高敏 skill。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本页如实讲局限，体现对系统能力边界的把握。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总结全文，回到研究问题：工具调用智能体需要模型外安全边界。</a:t>
            </a:r>
          </a:p>
          <a:p xmlns:a="http://schemas.openxmlformats.org/drawingml/2006/main">
            <a:r>
              <a:t>感谢老师，进入提问环节。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5d51f107aa49e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9909df96bd54b18" /><Relationship Type="http://schemas.openxmlformats.org/officeDocument/2006/relationships/slideLayout" Target="/ppt/slideLayouts/slideLayout2.xml" Id="Re834c5369bd640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34c5369bd640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1dc5915a704ab2" /><Relationship Type="http://schemas.openxmlformats.org/officeDocument/2006/relationships/notesSlide" Target="/ppt/notesSlides/notesSlide1.xml" Id="R70d9d690820d4a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90195449d14898" /><Relationship Type="http://schemas.openxmlformats.org/officeDocument/2006/relationships/notesSlide" Target="/ppt/notesSlides/notesSlide2.xml" Id="Rd1c4bb87a7bc4f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8dfe1d55884d00" /><Relationship Type="http://schemas.openxmlformats.org/officeDocument/2006/relationships/notesSlide" Target="/ppt/notesSlides/notesSlide3.xml" Id="R074114c7553b40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669e6fc00e423a" /><Relationship Type="http://schemas.openxmlformats.org/officeDocument/2006/relationships/notesSlide" Target="/ppt/notesSlides/notesSlide4.xml" Id="R685665896ef44b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926ebeeced4119" /><Relationship Type="http://schemas.openxmlformats.org/officeDocument/2006/relationships/notesSlide" Target="/ppt/notesSlides/notesSlide5.xml" Id="Rfd53d502d3bc4a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7ba32e4dc147fa" /><Relationship Type="http://schemas.openxmlformats.org/officeDocument/2006/relationships/notesSlide" Target="/ppt/notesSlides/notesSlide6.xml" Id="Rc5dd1159590f42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f62ce15d84457a" /><Relationship Type="http://schemas.openxmlformats.org/officeDocument/2006/relationships/notesSlide" Target="/ppt/notesSlides/notesSlide7.xml" Id="R8a5cf435395c4e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e4576682cb4e1d" /><Relationship Type="http://schemas.openxmlformats.org/officeDocument/2006/relationships/notesSlide" Target="/ppt/notesSlides/notesSlide8.xml" Id="Rdec1129938ea47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23964d5b024e98" /><Relationship Type="http://schemas.openxmlformats.org/officeDocument/2006/relationships/notesSlide" Target="/ppt/notesSlides/notesSlide9.xml" Id="Rd35f4322d9bb40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3b406d173a4ce8" /><Relationship Type="http://schemas.openxmlformats.org/officeDocument/2006/relationships/notesSlide" Target="/ppt/notesSlides/notesSlide10.xml" Id="Rb331e2372d4a4b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3ef1ea2b8f48af" /><Relationship Type="http://schemas.openxmlformats.org/officeDocument/2006/relationships/notesSlide" Target="/ppt/notesSlides/notesSlide11.xml" Id="R539b983348b041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1ab99b582446e6" /><Relationship Type="http://schemas.openxmlformats.org/officeDocument/2006/relationships/image" Target="/ppt/media/image.png" Id="R54b6f09085554a66" /><Relationship Type="http://schemas.openxmlformats.org/officeDocument/2006/relationships/image" Target="/ppt/media/image2.png" Id="R87c47a686dab44b5" /><Relationship Type="http://schemas.openxmlformats.org/officeDocument/2006/relationships/image" Target="/ppt/media/image3.png" Id="R74713e70291f4224" /><Relationship Type="http://schemas.openxmlformats.org/officeDocument/2006/relationships/image" Target="/ppt/media/image4.png" Id="R1c2601e4913c455e" /><Relationship Type="http://schemas.openxmlformats.org/officeDocument/2006/relationships/notesSlide" Target="/ppt/notesSlides/notesSlide12.xml" Id="R13ebeb88827c45c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c59054589f4982" /><Relationship Type="http://schemas.openxmlformats.org/officeDocument/2006/relationships/notesSlide" Target="/ppt/notesSlides/notesSlide13.xml" Id="Recc6ce8df124420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06544c998c4e0b" /><Relationship Type="http://schemas.openxmlformats.org/officeDocument/2006/relationships/notesSlide" Target="/ppt/notesSlides/notesSlide14.xml" Id="R9d7baaf4f84d4b1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d31b55b32d4408" /><Relationship Type="http://schemas.openxmlformats.org/officeDocument/2006/relationships/notesSlide" Target="/ppt/notesSlides/notesSlide15.xml" Id="R7f3f94d77ec8414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9c0298175c42a5" /><Relationship Type="http://schemas.openxmlformats.org/officeDocument/2006/relationships/notesSlide" Target="/ppt/notesSlides/notesSlide16.xml" Id="R1fd6d52818b547d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0c12acc9d74684" /><Relationship Type="http://schemas.openxmlformats.org/officeDocument/2006/relationships/notesSlide" Target="/ppt/notesSlides/notesSlide17.xml" Id="R03dd956f195b4fc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eb3ac3ef1441c0" /><Relationship Type="http://schemas.openxmlformats.org/officeDocument/2006/relationships/notesSlide" Target="/ppt/notesSlides/notesSlide18.xml" Id="R5824774c15a2455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91fccb0f6045a3" /><Relationship Type="http://schemas.openxmlformats.org/officeDocument/2006/relationships/image" Target="/ppt/media/image5.png" Id="R98c0dbd7b3f44e9e" /><Relationship Type="http://schemas.openxmlformats.org/officeDocument/2006/relationships/notesSlide" Target="/ppt/notesSlides/notesSlide19.xml" Id="R1a2de3e322d8473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10929f06904f8b" /><Relationship Type="http://schemas.openxmlformats.org/officeDocument/2006/relationships/notesSlide" Target="/ppt/notesSlides/notesSlide20.xml" Id="Re7eceba804824e9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c604f63a044eb3" /><Relationship Type="http://schemas.openxmlformats.org/officeDocument/2006/relationships/notesSlide" Target="/ppt/notesSlides/notesSlide21.xml" Id="Rd074808bc5b643f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2f7bd9c1e8452b" /><Relationship Type="http://schemas.openxmlformats.org/officeDocument/2006/relationships/notesSlide" Target="/ppt/notesSlides/notesSlide22.xml" Id="Rad4de591786649e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b412c050a74512" /><Relationship Type="http://schemas.openxmlformats.org/officeDocument/2006/relationships/notesSlide" Target="/ppt/notesSlides/notesSlide23.xml" Id="R59728e9a11994fd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9783fb57fa4564" /><Relationship Type="http://schemas.openxmlformats.org/officeDocument/2006/relationships/image" Target="/ppt/media/image6.png" Id="R62901e7146ad479e" /><Relationship Type="http://schemas.openxmlformats.org/officeDocument/2006/relationships/notesSlide" Target="/ppt/notesSlides/notesSlide24.xml" Id="R250bac7189be406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5124397db040c4" /><Relationship Type="http://schemas.openxmlformats.org/officeDocument/2006/relationships/image" Target="/ppt/media/image7.png" Id="R496522c8d9644b53" /><Relationship Type="http://schemas.openxmlformats.org/officeDocument/2006/relationships/notesSlide" Target="/ppt/notesSlides/notesSlide25.xml" Id="R51ce3836567040b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105634ebb648c4" /><Relationship Type="http://schemas.openxmlformats.org/officeDocument/2006/relationships/image" Target="/ppt/media/image8.png" Id="R1355c657919444ee" /><Relationship Type="http://schemas.openxmlformats.org/officeDocument/2006/relationships/notesSlide" Target="/ppt/notesSlides/notesSlide26.xml" Id="R4efd23c271f9484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e32efea50a43be" /><Relationship Type="http://schemas.openxmlformats.org/officeDocument/2006/relationships/notesSlide" Target="/ppt/notesSlides/notesSlide27.xml" Id="Rd905c77364fd4cf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43ccb57f7a4b50" /><Relationship Type="http://schemas.openxmlformats.org/officeDocument/2006/relationships/notesSlide" Target="/ppt/notesSlides/notesSlide28.xml" Id="R2c3cc2da25fa4d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7CC281-0B43-4D1A-A70D-E0C3CEC2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6"/>
          </a:solidFill>
          <a:ln xmlns:a="http://schemas.openxmlformats.org/drawingml/2006/main" w="0"/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B2194-A6A2-4276-BA94-C1C380EE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1579E-0575-4AA7-A6D3-12B26A6E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256E0-A417-4EBA-BFA6-43E2D74D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028700"/>
            <a:ext cx="609600" cy="3238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BFU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4B5FD-D659-4260-8560-93758F61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2428875" cy="666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北京林业大学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65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Beijing Forestry University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D1F9C-65C4-4D98-A67A-0E64390D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7C71F-991D-4149-8596-69F48D57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914400"/>
            <a:ext cx="304800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本科毕业论文答辩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C2F52-4DB0-46AA-A5C6-8077AA9B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600200"/>
            <a:ext cx="6286500" cy="1428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面向工具调用智能体的安全防火墙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1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Web 应用系统设计与实现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053D77-F7A8-4A78-9B82-60A9D16C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62300"/>
            <a:ext cx="5905500" cy="4191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Design and Implementation of a Web-based Agent Firewall for Tool-Calling AI 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F89A25-43F8-4D2E-82C7-04CC549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9575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421F6-9B5D-4C15-9F45-D54D04A6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52900"/>
            <a:ext cx="10287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答辩人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085707-BA57-42CE-B576-C6A51407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52900"/>
            <a:ext cx="360045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霍玮放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56D4B7-12E1-4644-B5C1-C451EFF5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957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1DBC2E-7514-4B49-8E18-5273386D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3865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A8509D-7BCA-478F-94A3-5CB75CB3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495800"/>
            <a:ext cx="10287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学院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9CA027-58B1-47A4-A9D3-5C593DE5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95800"/>
            <a:ext cx="360045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信息学院（人工智能学院）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539EE3-3584-470A-BD5D-B61584D5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386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FBD7F7-B123-4507-9BE7-74F1195F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8155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B909C8-F979-49DC-AB53-AC7BEE02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838700"/>
            <a:ext cx="10287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专业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8E399E-D0E1-4006-83D4-3DC0CDEA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838700"/>
            <a:ext cx="360045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计算机科学与技术（辅修）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E13475-FA7C-478B-AB8E-2AA905BA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815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0DE971-6087-4B38-AAC1-382314B7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2445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B470BA-3481-4679-A021-A2B22314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181600"/>
            <a:ext cx="10287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指导教师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48ADDF-3687-4471-A415-FAB6A54C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81600"/>
            <a:ext cx="360045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杨波 教授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99B4C0-48B7-4CC6-A63D-2F2BE611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244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7BC1B7-EA7E-4183-BF7E-ADB22F3A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6735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8D20AC-3E1C-4AE1-8852-F71288BB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524500"/>
            <a:ext cx="10287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日期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B4419D-2558-418F-93E8-5CE22D1E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524500"/>
            <a:ext cx="360045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2026 年 6 月 3 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E9AAC3-1677-4B2B-BC51-794CCB55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4673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</p:spTree>
    <p:extLst>
      <p:ext uri="{BB962C8B-B14F-4D97-AF65-F5344CB8AC3E}">
        <p14:creationId xmlns:p14="http://schemas.microsoft.com/office/powerpoint/2010/main" val="11772695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10C7CE-72D4-4115-AC5C-4395F93A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目录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DB1FD-4C08-4414-A441-2D51F471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144000" cy="438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汇报围绕问题、方案、证据和边界展开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5D708-FAC3-432D-BAF8-B44E70BE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57250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按答辩时间压缩论文正文，只保留能够支撑结论的主线。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82CFF-9716-403D-959F-67C15D65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E3AB7-7113-48FB-8E3B-3863C78A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Agent-Firewall 毕业论文答辩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CE5D2-B634-4092-854E-C69FF110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38900"/>
            <a:ext cx="30480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汇报结构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E4DF5-E84B-46D7-94C6-98B074BF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5715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AC667-4B9C-4BEB-98B3-149E3534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742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F7D4A"/>
          </a:solidFill>
          <a:ln xmlns:a="http://schemas.openxmlformats.org/drawingml/2006/main" w="0"/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5F4FE-BE79-4485-9D74-589F7ED8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95475"/>
            <a:ext cx="74295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BDE634-FF1F-4626-8F1A-B2461868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847850"/>
            <a:ext cx="180975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研究背景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1D674-94D8-4999-A8DA-13FB2529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66900"/>
            <a:ext cx="600075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工具调用智能体为什么需要模型外安全边界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232868-3D3D-4A73-83B1-F5F13444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742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0"/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C49B28-4E72-4B76-9333-17D91E2C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38425"/>
            <a:ext cx="74295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D2F789-5625-4D6E-BDD4-A7135EC4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90800"/>
            <a:ext cx="180975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系统设计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A3FAB-3522-4D3C-90D9-9EC93C6A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09850"/>
            <a:ext cx="600075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Proxy、Agent Runtime、Frontend 与 OpenClaw 的分层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A3678B-2A1F-4246-A884-9D8E72B7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742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0"/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8CAE28-0B97-4551-A050-44E38870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1375"/>
            <a:ext cx="74295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8801A2-1AD7-4BEA-8B15-8ABE7EF5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33750"/>
            <a:ext cx="180975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核心方法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D9B4CE-1AE0-40FE-9424-BC73E5F7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52800"/>
            <a:ext cx="600075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输入扫描、双门控、人工审批、Trace 证据链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3129C2-83F7-4FE5-9C75-F7AC612D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742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0"/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165B9F-2020-45AF-B99F-36DA967A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24325"/>
            <a:ext cx="74295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CCA0A2-86CE-4E41-A5EE-2ADAB697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076700"/>
            <a:ext cx="180975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实验结果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77EC33-586C-46EE-BBAE-69D6400F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95750"/>
            <a:ext cx="600075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策略阶梯、回放、映射评测、真实链路复测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2C1119-319F-43F7-9295-FA539B02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0600"/>
            <a:ext cx="742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0"/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AFE0CE-3658-4732-84EC-F99E16C0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67275"/>
            <a:ext cx="74295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867D07-AA78-4DBC-AEA1-9A5AD2D2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19650"/>
            <a:ext cx="180975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总结展望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74D5F1-0830-4EC2-B008-8B156594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38700"/>
            <a:ext cx="600075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主要贡献、创新点、局限与后续工作</a:t>
            </a:r>
          </a:p>
        </p:txBody>
      </p:sp>
    </p:spTree>
    <p:extLst>
      <p:ext uri="{BB962C8B-B14F-4D97-AF65-F5344CB8AC3E}">
        <p14:creationId xmlns:p14="http://schemas.microsoft.com/office/powerpoint/2010/main" val="10905423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72C99A-7CE1-4EA7-A330-886CBF4E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4D072-66B4-437B-9A64-CD318CA2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144000" cy="438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工具调用让模型输出从文本变成真实操作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5AB3D-C4E6-4EDE-9E11-B701BC3B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57250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OpenClaw、MCP 等工具生态降低了接入成本，也把攻击面推进到执行层。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6FFFB-8F86-427D-A6BE-3C9CC4EF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1FEED-0944-4426-B639-325C0292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Agent-Firewall 毕业论文答辩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2E1AC-79F9-4650-98BA-6F7FEF87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38900"/>
            <a:ext cx="30480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研究背景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F5C91-2BD6-4A42-8928-52F045AD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5715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79131-7F3B-4C8C-8E98-17B47A26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1204CC-0409-4749-97AD-F7E04B41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1238250" cy="723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用户输入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7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自然语言承载任务与攻击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EABF2-18E2-4588-8761-5EE8C86D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003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252B49-7328-4F37-B08A-FF93AE69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76525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DCFD4-459A-44C1-B2C1-77DC28C7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81250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73A41-C1D4-4158-B854-87EE4C11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1238250" cy="723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模型规划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7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生成工具调用计划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225D20-D67E-4478-9143-B553D288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003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384CAE-5D1A-4967-9837-09794D41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76525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F3B155-0F41-4D01-A966-7567C20C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81250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F7D4A"/>
          </a:solidFill>
          <a:ln xmlns:a="http://schemas.openxmlformats.org/drawingml/2006/main" w="14288">
            <a:solidFill>
              <a:srgbClr val="2F7D4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B6DD72-1CF8-45C9-813D-9816F3FE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57450"/>
            <a:ext cx="1238250" cy="723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工具执行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触达本机与外部服务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C0764-8739-4440-B0D8-BD4EBE4A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003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F0ADD5-228A-43D7-AF9C-6B8ABA69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76525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45F93A-7C91-4CE8-995F-B45D8388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81250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5D9E1D-CC09-40E1-9AF8-79768783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57450"/>
            <a:ext cx="1238250" cy="723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结果回流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7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工具输出进入上下文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2F05E1-5988-4063-9910-518D7738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003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01B094-3815-4A1E-A087-2350DCA0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76525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6661E1-BDE3-429E-AB87-F6600E40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81250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C206B2-3746-48A4-B63E-C0ED3CBF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57450"/>
            <a:ext cx="1238250" cy="723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副作用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7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可能产生真实影响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404F26-576F-4EF3-8B1C-CE36599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71950"/>
            <a:ext cx="7810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A8D5B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11DB1D-A359-44AB-92B7-D803C7F2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81500"/>
            <a:ext cx="7391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答辩要点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A6B832-EE02-442E-83BE-B6492799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24400"/>
            <a:ext cx="739140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安全问题不再只是“模型说了什么”，而是“模型是否驱动了未经验证的工具动作”。</a:t>
            </a:r>
          </a:p>
        </p:txBody>
      </p:sp>
    </p:spTree>
    <p:extLst>
      <p:ext uri="{BB962C8B-B14F-4D97-AF65-F5344CB8AC3E}">
        <p14:creationId xmlns:p14="http://schemas.microsoft.com/office/powerpoint/2010/main" val="12683611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A37CA4-B06D-4B21-B696-3363479D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1AD76-E1DD-4FE6-B6F1-590D0D33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144000" cy="438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只靠提示词拒答，无法证明工具调用经过安全校验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805A8-4F77-4037-B488-B60EF47F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57250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答辩重点是把“模型自觉安全”转化为“系统可证明安全”。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04F8A-2716-425D-BD61-9072580B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2EE84-5413-4A2A-B33D-734D5ADF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Agent-Firewall 毕业论文答辩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25A9E-FB28-4F9C-8B58-8D30DA84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38900"/>
            <a:ext cx="30480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研究背景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ED1A9-480A-4318-AEC1-DF37693C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5715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D5C2E-5910-4D74-B243-260313BE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76450"/>
            <a:ext cx="2952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5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FAA124-B019-48BA-A71C-D23A7037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76450"/>
            <a:ext cx="2952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/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3BAB1-16A9-4E87-ABAA-82B492C4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2495550" cy="3238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F80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2F80ED"/>
                </a:solidFill>
                <a:latin typeface="Arial Unicode MS"/>
                <a:ea typeface="Arial Unicode MS"/>
                <a:cs typeface="Arial Unicode MS"/>
              </a:rPr>
              <a:t>输入进入模型前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6A436B-1352-4354-A0F3-4AABA747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2381250" cy="685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是否完成风险判断？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5F912-CECD-4F34-B880-742FB385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076450"/>
            <a:ext cx="2952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5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4B1948-378A-4473-AE8A-AE5B6CED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076450"/>
            <a:ext cx="2952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4A"/>
          </a:solidFill>
          <a:ln xmlns:a="http://schemas.openxmlformats.org/drawingml/2006/main" w="0"/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23FFBA-85E2-48C0-B3A2-FFB3F186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76500"/>
            <a:ext cx="2495550" cy="3238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工具执行之前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2A8C61-C5C1-4DC5-8ECA-C8C4655B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28950"/>
            <a:ext cx="2381250" cy="685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是否经过权限、参数和确认检查？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E5DD7C-7EAA-4E1A-A81B-06774FBD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76450"/>
            <a:ext cx="2952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5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F4AF35-D671-43B7-ACF5-49AF1A65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76450"/>
            <a:ext cx="2952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23A"/>
          </a:solidFill>
          <a:ln xmlns:a="http://schemas.openxmlformats.org/drawingml/2006/main" w="0"/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4F2863-BCA5-49E3-811B-B0858E25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2495550" cy="3238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D8A2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D8A23A"/>
                </a:solidFill>
                <a:latin typeface="Arial Unicode MS"/>
                <a:ea typeface="Arial Unicode MS"/>
                <a:cs typeface="Arial Unicode MS"/>
              </a:rPr>
              <a:t>结果进入上下文前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2A5602-0FEB-45A1-8B3A-7BCE0D67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2381250" cy="685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是否清洗并留下复核证据？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0C53C9-31B6-4A4A-AB7B-3BF732CF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62500"/>
            <a:ext cx="91059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453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4532D"/>
                </a:solidFill>
                <a:latin typeface="Arial Unicode MS"/>
                <a:ea typeface="Arial Unicode MS"/>
                <a:cs typeface="Arial Unicode MS"/>
              </a:rPr>
              <a:t>因此，Agent-Firewall 的目标不是替代模型，而是在模型外侧建立可执行、可审计的安全边界。</a:t>
            </a:r>
          </a:p>
        </p:txBody>
      </p:sp>
    </p:spTree>
    <p:extLst>
      <p:ext uri="{BB962C8B-B14F-4D97-AF65-F5344CB8AC3E}">
        <p14:creationId xmlns:p14="http://schemas.microsoft.com/office/powerpoint/2010/main" val="2667402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8A38F4-EB5F-4BEF-B570-F474B8E5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E808D-EC89-4D02-AAA9-7C04DA63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144000" cy="438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系统目标可以压缩为四个关键词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600F5-0B96-4C1E-B06F-A93D3A63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57250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可控制、可审批、可追踪、可复现，是后续设计与实验的评价标准。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67799-B628-4582-B2E9-D478ED7F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17004-BDAA-4D0C-897C-787CA4EB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Agent-Firewall 毕业论文答辩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B0F36-6A42-4239-9C76-5B7010F6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38900"/>
            <a:ext cx="30480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研究目标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7092F-64C7-48A3-B9B3-1E621E54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5715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B50C1-60B5-477B-994F-962C40DF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4476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1CF21-034A-4703-823C-F76249D6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13385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可控制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9E0DF8-A594-4DE6-8BF2-112CD4D2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76550"/>
            <a:ext cx="4133850" cy="2476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输入与工具调用必须经过策略裁决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FDBF19-6E82-4E34-BE4D-922F1963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76450"/>
            <a:ext cx="4476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9AB9D3-43F0-417A-82AB-335FDFC9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413385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D8A2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D8A23A"/>
                </a:solidFill>
                <a:latin typeface="Arial Unicode MS"/>
                <a:ea typeface="Arial Unicode MS"/>
                <a:cs typeface="Arial Unicode MS"/>
              </a:rPr>
              <a:t>可审批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C029C-D9E0-474E-AA23-89DF80CD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76550"/>
            <a:ext cx="4133850" cy="2476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高风险输入或工具暂停进入 intervention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E1AE7-DCD2-4E2C-A6C0-BD84A62F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4476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B2D8B1-D872-4328-922B-A171C902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413385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2F80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F80ED"/>
                </a:solidFill>
                <a:latin typeface="Arial Unicode MS"/>
                <a:ea typeface="Arial Unicode MS"/>
                <a:cs typeface="Arial Unicode MS"/>
              </a:rPr>
              <a:t>可追踪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1AD19B-7CD9-4178-8DF8-37AEFB96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4133850" cy="2476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运行图关键节点写入 Trace / Audit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2F8020-0C5F-4A02-91D8-8AE88681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95700"/>
            <a:ext cx="4476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101A51-15BC-476F-BE8C-51E8AE4B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67150"/>
            <a:ext cx="413385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1453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4532D"/>
                </a:solidFill>
                <a:latin typeface="Arial Unicode MS"/>
                <a:ea typeface="Arial Unicode MS"/>
                <a:cs typeface="Arial Unicode MS"/>
              </a:rPr>
              <a:t>可复现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182D0-FDFF-432F-BEE2-4160F643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95800"/>
            <a:ext cx="4133850" cy="2476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实验场景、测试命令和口径可重复</a:t>
            </a:r>
          </a:p>
        </p:txBody>
      </p:sp>
    </p:spTree>
    <p:extLst>
      <p:ext uri="{BB962C8B-B14F-4D97-AF65-F5344CB8AC3E}">
        <p14:creationId xmlns:p14="http://schemas.microsoft.com/office/powerpoint/2010/main" val="7315849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BCE783-B172-4981-8B64-EF5E5787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威胁模型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D4EFF-3E5B-4BB3-B8C5-8A18EC28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144000" cy="438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入口、模型计划和工具输出在门控前都不可信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C1CF7-470A-4816-A3E4-814D2224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57250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关键资产不仅包括 API key，也包括工具描述、参数 Schema、工具输出和 Trace 预览。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64C06-E96D-4D97-B423-435EE497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20C4D-3DCD-4102-BC5A-21CED0E6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Agent-Firewall 毕业论文答辩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D332F-D9C7-4524-A669-BB5CBCA9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38900"/>
            <a:ext cx="30480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需求分析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5593E-C385-4ED8-914F-8AFC8B48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5715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6EC61-DA20-4357-B1E7-48A1B86C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15716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F4FC7-0416-4B62-9E79-DD40FAA6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1381125" cy="666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外部消息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Telegram / Web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C97F5-8939-43B2-B183-C883E105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05050"/>
            <a:ext cx="15716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E5EACC-AFF7-4095-AAA3-20E2CF4D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81250"/>
            <a:ext cx="1381125" cy="666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Proxy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输入扫描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21289D-7794-4415-ABFE-EB91E126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05050"/>
            <a:ext cx="15716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6736F-85A8-4C4C-9928-F32D96BB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81250"/>
            <a:ext cx="1381125" cy="666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Agent Runtime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工具计划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DF80B-FE6F-4EA5-A347-E59BDDAD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0505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29D297-1B1F-4C3E-8A15-F1CF15DD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1619250" cy="666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OpenClaw / Provider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工具输出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3D4736-34D9-4DF4-8474-862D16A5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62450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A0903E-5AE6-406F-9882-8B72A3F3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38650"/>
            <a:ext cx="2000250" cy="666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Trace / Audit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证据资产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4D204A-EB64-496F-8649-5FADB215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0510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E63271-C8A2-4C5C-B7BB-09149FCC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81275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6E6554-F688-458C-98B7-7014674E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0510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9DD052-EFB1-46A6-8927-9FE52616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81275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D2053B-1053-419A-BD08-750B6311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0510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D82D47-7DFF-405A-93E5-18F89E97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81275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B36064-A14E-492F-8580-67C59ED2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62300"/>
            <a:ext cx="285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3A"/>
          </a:solidFill>
          <a:ln xmlns:a="http://schemas.openxmlformats.org/drawingml/2006/main" w="0"/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7B890D-72EB-4D93-A41C-82CF3491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152900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D8A2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D8A23A"/>
                </a:solidFill>
                <a:latin typeface="Arial Unicode MS"/>
                <a:ea typeface="Arial Unicode MS"/>
                <a:cs typeface="Arial Unicode MS"/>
              </a:rPr>
              <a:t>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D51FCD-C86A-403C-B385-7B61134C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381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提示词注入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327CEE-0D7F-4FF9-BD30-137DA93A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219700"/>
            <a:ext cx="1381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C2410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C2410C"/>
                </a:solidFill>
                <a:latin typeface="Arial Unicode MS"/>
                <a:ea typeface="Arial Unicode MS"/>
                <a:cs typeface="Arial Unicode MS"/>
              </a:rPr>
              <a:t>工具滥用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DA3768-2D62-4AFB-A2ED-4BA7399D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219700"/>
            <a:ext cx="1381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混淆代理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4A8824-67A0-4EA6-A7FC-2189B40A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219700"/>
            <a:ext cx="1381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C2410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C2410C"/>
                </a:solidFill>
                <a:latin typeface="Arial Unicode MS"/>
                <a:ea typeface="Arial Unicode MS"/>
                <a:cs typeface="Arial Unicode MS"/>
              </a:rPr>
              <a:t>间接注入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894B53-B27A-4260-B8DC-1D44AE50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19700"/>
            <a:ext cx="1381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凭据泄露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5A6BBA-0EBD-40BF-BA86-7BE01F31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219700"/>
            <a:ext cx="1381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C2410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C2410C"/>
                </a:solidFill>
                <a:latin typeface="Arial Unicode MS"/>
                <a:ea typeface="Arial Unicode MS"/>
                <a:cs typeface="Arial Unicode MS"/>
              </a:rPr>
              <a:t>委派链滥用</a:t>
            </a:r>
          </a:p>
        </p:txBody>
      </p:sp>
    </p:spTree>
    <p:extLst>
      <p:ext uri="{BB962C8B-B14F-4D97-AF65-F5344CB8AC3E}">
        <p14:creationId xmlns:p14="http://schemas.microsoft.com/office/powerpoint/2010/main" val="10097272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785867-25CA-4EB4-B16E-17266C55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FD68E-7F61-4710-812D-91B35FF3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144000" cy="438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防护需求对应四类可观察行为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51E58-1675-409D-ABEF-AF213DB5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57250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功能不是页面清单，而是安全边界在系统中的可验证表现。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7CE3F-25EC-4EF5-AA05-0D57847C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8F8427-03D2-46A6-9FDB-8327EB62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Agent-Firewall 毕业论文答辩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1FF66-20D2-4F82-8BF4-CF1E0E99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38900"/>
            <a:ext cx="30480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需求分析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5705CD-F901-4689-817B-EB42C5D2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5715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AAC11-F4A2-4678-AACB-349EC082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9906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A8D5B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77FDB-2B64-451F-BFFB-54E14015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990600" cy="285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6A086-87D3-495F-B5A8-0C79A904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962150"/>
            <a:ext cx="200025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输入可拦截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444C4-1B78-4B85-B974-9DE75AAE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81200"/>
            <a:ext cx="6096000" cy="4191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外部消息进入模型前经过 /v1/scan，高风险输入 BLOCK 或进入审批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FBE26B-53E2-4CBF-81AC-E1C7D3F5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9906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D5B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46DB4-42A5-46F6-B932-B8BDC0E9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24175"/>
            <a:ext cx="990600" cy="285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EDFFB7-69C8-49D4-BCCA-904BEB2A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38450"/>
            <a:ext cx="200025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工具可控制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306B21-CA75-48DB-8DF3-DD9A57BE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6096000" cy="4191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模型提出工具计划后，执行前必须经过 RBAC、Schema、风险和确认检查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2398BA-E3AE-4350-9855-AB9B6280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9906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A8D5B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B7C450-1878-458C-A0F4-C350581A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990600" cy="285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3F690E-6935-4AF2-BF96-3C5161A0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14750"/>
            <a:ext cx="200025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输出可清洗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90AD28-587C-4B18-9720-4F6DF7A3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33800"/>
            <a:ext cx="6096000" cy="4191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OpenClaw skill 和未来 provider 返回内容必须经过 post-tool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806A06-D120-42FC-8ADB-54520787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9906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D5B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16DF48-8460-4C89-B3D3-C89501EA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76775"/>
            <a:ext cx="990600" cy="285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560447-205C-4BFB-AE77-9489D501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91050"/>
            <a:ext cx="200025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证据可追踪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87284C-6769-4F01-A669-5A033438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10100"/>
            <a:ext cx="6096000" cy="4191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输入扫描、工具计划、门控决策、执行和最终回复写入 Trace</a:t>
            </a:r>
          </a:p>
        </p:txBody>
      </p:sp>
    </p:spTree>
    <p:extLst>
      <p:ext uri="{BB962C8B-B14F-4D97-AF65-F5344CB8AC3E}">
        <p14:creationId xmlns:p14="http://schemas.microsoft.com/office/powerpoint/2010/main" val="17413032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4467AC-E8A4-4073-B6E1-5A49E26F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0A5EC-884C-46C5-9E17-C5984AE3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144000" cy="438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Agent-Firewall 将文本安全与能力安全分层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EAE7B-B5F0-4164-810F-FBFEE6C0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57250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Proxy 处理模型前扫描，Agent Runtime 处理真实工具副作用边界，Frontend 负责运维与复核。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33D74-A03C-497B-BCB9-885B8554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5E4C0B-CB8C-4559-878D-E9CE194A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Agent-Firewall 毕业论文答辩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66B36-2C51-4834-8E2D-1BE6F46C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38900"/>
            <a:ext cx="30480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系统设计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E8587-CDF0-4E88-8FE9-53555F71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5715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7ABC6-3897-484B-B896-A3816B6A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00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693B1D-26F0-4BD1-8E7F-0DD0F627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809750" cy="8001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Frontend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攻击演练 / 审批 / 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F6D01-6B6D-4CCE-929C-48C14456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00250"/>
            <a:ext cx="2190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B082C-9A7D-4C84-9613-36A3999E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76450"/>
            <a:ext cx="2000250" cy="8953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Proxy Service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/v1/scan / 策略 / 审计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0E452-D4C8-4D91-8518-3DF7148A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14750"/>
            <a:ext cx="2190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9648E7-3F30-413B-BD4F-697F19CF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90950"/>
            <a:ext cx="2000250" cy="8953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Agent Runtime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LLM / pre-tool / post-tool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E58D5-01DB-48A7-95A1-F75A457F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200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F387ED-5175-4CC6-9C2C-40948375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57450"/>
            <a:ext cx="1809750" cy="8001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OpenClaw Skills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本机工具能力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FC187D-71BA-483A-A741-06C9E048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95750"/>
            <a:ext cx="2000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8A7623-C88C-4671-BA91-737337D2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71950"/>
            <a:ext cx="1809750" cy="666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SQLite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Trace / Audit / Control Plane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80126A-EA4F-458D-B93C-10D2B837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00350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7C9ACE-92B2-49AF-B6F1-0E9F2FBE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676525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AB0E28-1FCF-4ED5-B186-DC542D25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86100"/>
            <a:ext cx="285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/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164FBA-B735-4854-BBF0-528BF5E3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00450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F9BDFE-8147-47F4-8D3D-6ED9B2EE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210050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696927-6D00-418E-B180-6D3F905C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086225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06CF58-9125-4883-ADDF-37D52119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7185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3A"/>
          </a:solidFill>
          <a:ln xmlns:a="http://schemas.openxmlformats.org/drawingml/2006/main" w="0"/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1BE730-C1C4-48DD-97A5-14515ECC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81450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D8A2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D8A23A"/>
                </a:solidFill>
                <a:latin typeface="Arial Unicode MS"/>
                <a:ea typeface="Arial Unicode MS"/>
                <a:cs typeface="Arial Unicode MS"/>
              </a:rPr>
              <a:t>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85938C-D721-44FA-B45E-40A9AF03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19700"/>
            <a:ext cx="9334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453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4532D"/>
                </a:solidFill>
                <a:latin typeface="Arial Unicode MS"/>
                <a:ea typeface="Arial Unicode MS"/>
                <a:cs typeface="Arial Unicode MS"/>
              </a:rPr>
              <a:t>核心边界：工具调用不再从模型直接落到 OpenClaw，而是必须经过运行时门控和审计记录。</a:t>
            </a:r>
          </a:p>
        </p:txBody>
      </p:sp>
    </p:spTree>
    <p:extLst>
      <p:ext uri="{BB962C8B-B14F-4D97-AF65-F5344CB8AC3E}">
        <p14:creationId xmlns:p14="http://schemas.microsoft.com/office/powerpoint/2010/main" val="20783621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731366-0B4F-4AD1-AA41-EB079F9E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9400D-9ABC-4976-A196-4080987A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144000" cy="438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受保护链路从入口到 Trace 形成闭环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5098B-0B35-4963-8C42-8E6E85A4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57250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direct 入口只作为 Compare 对照，不属于受保护运行链路。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0115D-92C5-4F61-B208-B75353D5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6C034-C09C-4883-9CE9-6B2B11FF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Agent-Firewall 毕业论文答辩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FAFAC-8911-4C33-8C9F-22CFCC61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38900"/>
            <a:ext cx="30480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系统设计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9458D-5114-4687-9FF9-F744544A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5715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93FAB-D9E0-4F7E-952B-9FEC25AF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257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34820-7D9D-45D8-B239-A51069C4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066800" cy="5334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Message ingress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3A31C0-9690-4F66-8D68-E818128A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480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40BAF0-114F-4071-8DC0-5D8F3E50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24175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BE7B4-097B-4498-A44F-7F6C5EEB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1257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50E186-2B37-4D92-B000-6A99BAD0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00350"/>
            <a:ext cx="1066800" cy="5334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/agent/chat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5C0C11-9BA3-449C-9022-7A62FCA7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480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33D8B2-E5C3-4E62-9D1E-1C135597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24175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631CB-17B1-4BD8-9961-3631A746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24150"/>
            <a:ext cx="1257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9FC22C-FE1E-409D-911C-6008CD8A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00350"/>
            <a:ext cx="1066800" cy="5334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/v1/scan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73D1FC-859D-4E70-A700-D6797DB2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480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241054-6E37-445A-88C1-73E0EE91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24175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EFA961-4E59-418E-AB8B-4BC8D780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24150"/>
            <a:ext cx="1257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240A76-2189-4CD5-8912-F2C267C6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00350"/>
            <a:ext cx="1066800" cy="5334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pre-tool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6F2B2C-48F5-4ECC-B3FF-93B2777F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480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506D0E-36ED-4CB9-9BEB-B289EC91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24175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35B0CB-B9B3-4B42-B8A2-FB56DED6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24150"/>
            <a:ext cx="1257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0FC33D-02DF-4A2A-900B-B5595159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0350"/>
            <a:ext cx="1066800" cy="5334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OpenClaw provider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CAC4EC-9177-46D7-968C-9CE7F108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480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EA08D1-2A14-4B3A-90A3-3E2F36F2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24175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E6CB8C-5EB3-4A0E-BD6B-E037B638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24150"/>
            <a:ext cx="1257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C227C3-7B91-41EE-B979-62DB3970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00350"/>
            <a:ext cx="1066800" cy="5334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post-tool gate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D6B8CA-66DF-4004-B902-EF277464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480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262A5D-D558-4BAD-B8D7-A5C5E64D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924175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74066A-D17D-4197-A827-37DBD100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724150"/>
            <a:ext cx="1257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DD9A19-4DEC-43C3-A439-531A78FA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00350"/>
            <a:ext cx="1066800" cy="5334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Trace / Audit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393168-D180-4BD7-9339-B673D6BA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00500"/>
            <a:ext cx="4667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F723F3-EAB4-4388-8D2C-B828E1FA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71950"/>
            <a:ext cx="4210050" cy="342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C2410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C2410C"/>
                </a:solidFill>
                <a:latin typeface="Arial Unicode MS"/>
                <a:ea typeface="Arial Unicode MS"/>
                <a:cs typeface="Arial Unicode MS"/>
              </a:rPr>
              <a:t>Compare 对照：/agent/openclaw/direct 可调用 OpenClaw，但不产生受保护 Trace，因此不能作为安全边界证据。</a:t>
            </a:r>
          </a:p>
        </p:txBody>
      </p:sp>
    </p:spTree>
    <p:extLst>
      <p:ext uri="{BB962C8B-B14F-4D97-AF65-F5344CB8AC3E}">
        <p14:creationId xmlns:p14="http://schemas.microsoft.com/office/powerpoint/2010/main" val="12437912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4E7E80-A0E9-44F2-8D6B-3A78DED4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Proxy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40DAD-0B84-49FC-8454-F52E7FF1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144000" cy="438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Proxy Service 在模型调用前给出 scan-only 裁决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ADA48-8CB9-4A8F-89AB-DB5250D6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57250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它不转发到模型，而是返回风险、标志、意图和阻断原因。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A1F2A-3C04-4A28-B673-1237C1A3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91773-C192-4FCF-85BE-8B85F97D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Agent-Firewall 毕业论文答辩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4E42C-E6C0-4079-95A6-91CB08C3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38900"/>
            <a:ext cx="30480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系统设计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EEEC1-22E7-426D-90AF-36C667A4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5715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BE1D0-7AEC-4908-8B37-43EE83DF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58EB6E-3561-45D9-BF98-12DAEB81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1809750" cy="685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HTTP 请求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messages / model / policy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20117-4595-440E-B36C-CC65CBD5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00300"/>
            <a:ext cx="238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7F2BD3-38CA-4BCE-B585-035C902E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76500"/>
            <a:ext cx="2190750" cy="685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run_pre_llm_pipeline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规则 + scanner + 聚合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41D3FA-F376-4E33-9375-C5592E1D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00300"/>
            <a:ext cx="238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F692D4-E120-4D0F-BA77-672A6B11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76500"/>
            <a:ext cx="2190750" cy="685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安全裁决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ALLOW / MODIFY / BLOCK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EFF781-01D1-4834-9684-B331C134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8130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FB91E1-CDCD-4185-AEEC-6C4D8E2D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57475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8A1071-542D-4D21-B17D-2321854F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8130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488BFE-6F5B-42A3-8CCE-A11C42A9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57475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9DCA96-9319-4E75-B479-8CBD1275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21145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3986C8-8182-4CBD-B563-D01F80BF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00550"/>
            <a:ext cx="177165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/v1/scan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02FA5F-E0C2-4EF4-B5EC-C649B129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05350"/>
            <a:ext cx="1771650" cy="2476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scan-only 输入扫描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62423F-FAF0-4E02-B692-AB6F1FDD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29100"/>
            <a:ext cx="21145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2C822D-3BCB-4B20-8180-F23385ED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00550"/>
            <a:ext cx="177165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interventions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8258EB-B753-4E9D-9B20-2AC31ED3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05350"/>
            <a:ext cx="1771650" cy="2476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阻断/确认审批队列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EBA977-218D-41CA-9408-55CD1547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29100"/>
            <a:ext cx="21145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D2BD88-1EC3-4B23-911B-CF5D7A78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00550"/>
            <a:ext cx="177165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audit logs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EC62E2-F623-4222-90C5-ADCA1309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05350"/>
            <a:ext cx="1771650" cy="2476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请求审计与策略证据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0D7AB7-2F19-4627-B013-96F5C65D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29100"/>
            <a:ext cx="21145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79E1D7-BB7E-4100-8E24-3CB0E38D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00550"/>
            <a:ext cx="177165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control plane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53BE3F-D437-4FAE-BDF2-3E999BC7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05350"/>
            <a:ext cx="1771650" cy="2476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Agent / role / tool 元数据</a:t>
            </a:r>
          </a:p>
        </p:txBody>
      </p:sp>
    </p:spTree>
    <p:extLst>
      <p:ext uri="{BB962C8B-B14F-4D97-AF65-F5344CB8AC3E}">
        <p14:creationId xmlns:p14="http://schemas.microsoft.com/office/powerpoint/2010/main" val="3748470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E1C693-1524-4309-B920-85C900E9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Runtime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44696-4FD5-4030-9CD6-09CC8DF0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144000" cy="438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Agent Runtime 将模型计划和真实工具副作用隔开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688E8-A671-4C09-B92E-0A2CAB8A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57250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运行图中 LLM、pre-tool、provider、post-tool 和 Trace 是连续状态转移。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8CF95-C9D5-47D0-A9FB-294FB3F3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AB924-8964-4D2C-9EC9-90ADD2B4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Agent-Firewall 毕业论文答辩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C0764-B72B-4606-A4B9-66C1F0D8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38900"/>
            <a:ext cx="30480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系统设计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013FE3-82C0-4CF1-9E23-CAE7CAF8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5715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06209-344E-49EF-B60C-4F13A146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2571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B33EF-831A-457C-B520-1E5F8E17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230505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llm_call_node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E35CC-C40A-47C7-AF93-5BC44B99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57450"/>
            <a:ext cx="2305050" cy="47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模型调用前先经 Proxy /v1/scan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795B72-24FC-4418-A5EC-D77BDB12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2571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C82D36-1403-404B-B42C-05CC3EEF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230505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tool_plan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22B7C1-B7C3-486E-8EC3-925AF190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57450"/>
            <a:ext cx="2305050" cy="47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模型输出工具计划，不直接执行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AAAFE2-6353-4A32-9504-5A368C31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52650"/>
            <a:ext cx="2571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4FC2B2-F4A4-4A19-AC3F-6122D7A0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47900"/>
            <a:ext cx="230505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pre_tool_gate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87581F-DD6B-408C-946A-D8214FC2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57450"/>
            <a:ext cx="2305050" cy="47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RBAC、Schema、上下文风险、限额、确认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3B87A7-2020-47F0-B37E-D9BBEF6D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2571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9478F8-EC56-4CEE-8308-835A7685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71900"/>
            <a:ext cx="230505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provider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B6952F-79E0-4515-B79E-CC343C6F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81450"/>
            <a:ext cx="2305050" cy="47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OpenClaw skill / 预留 MCP provider slot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F4AC01-4BAA-484E-ADE7-CBC072A2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76650"/>
            <a:ext cx="2571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44D2CA-7A1B-44A8-B034-5F6F5207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71900"/>
            <a:ext cx="230505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post_tool_gate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72C9E5-B55D-458D-B98D-DB3EFC5C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81450"/>
            <a:ext cx="2305050" cy="47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PII、密钥、间接注入、超长输出处理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01AA5C-0BF3-4672-9411-AF5BD3B9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76650"/>
            <a:ext cx="2571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B073E5-1CFE-46C7-87AF-7789EB04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71900"/>
            <a:ext cx="230505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trace_accumulator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5F40A8-DA0B-4255-B6F4-EFBEC8C1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81450"/>
            <a:ext cx="2305050" cy="47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记录完整运行证据链</a:t>
            </a:r>
          </a:p>
        </p:txBody>
      </p:sp>
    </p:spTree>
    <p:extLst>
      <p:ext uri="{BB962C8B-B14F-4D97-AF65-F5344CB8AC3E}">
        <p14:creationId xmlns:p14="http://schemas.microsoft.com/office/powerpoint/2010/main" val="20599959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B777AA-E1A8-4E8F-AE3B-BDFCECBD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控制台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2B786-0F2E-4611-ABC0-B2B5B2A8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144000" cy="438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前端把安全边界变成可演练、可审批、可复核的界面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D5BE4-F490-4A97-9665-C6B14779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57250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答辩只展示关键页面，不逐个解释全部截图。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9B762-3B24-4C7E-B468-854FB044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2A0BA-8157-485B-B1ED-A9B91246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Agent-Firewall 毕业论文答辩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6887F-37A7-4F94-8F84-1EC7204F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38900"/>
            <a:ext cx="30480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系统设计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626D3-6272-46FC-860C-FA80FFE9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5715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A51AAC-B61C-4851-9360-8C0B7F35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44005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b6f09085554a66"/>
          <a:srcRect xmlns:a="http://schemas.openxmlformats.org/drawingml/2006/main" l="0" t="32555" r="0" b="325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1905000"/>
            <a:ext cx="4324350" cy="1257300"/>
          </a:xfrm>
          <a:prstGeom xmlns:a="http://schemas.openxmlformats.org/drawingml/2006/main" prst="roundRect">
            <a:avLst>
              <a:gd name="adj" fmla="val 378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2DDC85-16FD-4A04-B7EC-D75721AC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28575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Attack Playground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EFD1A-0F9B-40F9-AA28-E3F2B527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66900"/>
            <a:ext cx="44005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47a686dab44b5"/>
          <a:srcRect xmlns:a="http://schemas.openxmlformats.org/drawingml/2006/main" l="0" t="32555" r="0" b="325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905000"/>
            <a:ext cx="4324350" cy="1257300"/>
          </a:xfrm>
          <a:prstGeom xmlns:a="http://schemas.openxmlformats.org/drawingml/2006/main" prst="roundRect">
            <a:avLst>
              <a:gd name="adj" fmla="val 3788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493FD4-9438-4F82-BC06-1EE73A4F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00400"/>
            <a:ext cx="28575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Approvals / Audit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31F4F7-3B7F-47EB-AB3D-04B49C38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44005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13e70291f4224"/>
          <a:srcRect xmlns:a="http://schemas.openxmlformats.org/drawingml/2006/main" l="0" t="32555" r="0" b="325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3790950"/>
            <a:ext cx="4324350" cy="1257300"/>
          </a:xfrm>
          <a:prstGeom xmlns:a="http://schemas.openxmlformats.org/drawingml/2006/main" prst="roundRect">
            <a:avLst>
              <a:gd name="adj" fmla="val 3788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0561F8-F998-46E7-B570-30378A2A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86350"/>
            <a:ext cx="28575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Trace / Audit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66B476-EF4D-41F9-9F27-4991D05D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52850"/>
            <a:ext cx="44005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2601e4913c455e"/>
          <a:srcRect xmlns:a="http://schemas.openxmlformats.org/drawingml/2006/main" l="0" t="32555" r="0" b="325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3790950"/>
            <a:ext cx="4324350" cy="1257300"/>
          </a:xfrm>
          <a:prstGeom xmlns:a="http://schemas.openxmlformats.org/drawingml/2006/main" prst="roundRect">
            <a:avLst>
              <a:gd name="adj" fmla="val 3788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0D2EDE-1A62-402B-A192-0394273B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86350"/>
            <a:ext cx="28575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Skills &amp; Hooks</a:t>
            </a:r>
          </a:p>
        </p:txBody>
      </p:sp>
    </p:spTree>
    <p:extLst>
      <p:ext uri="{BB962C8B-B14F-4D97-AF65-F5344CB8AC3E}">
        <p14:creationId xmlns:p14="http://schemas.microsoft.com/office/powerpoint/2010/main" val="17111636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D21584-E117-46AD-A13D-42475802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B16E2-F44B-47D4-8385-7689DF11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144000" cy="438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核心方法是四个控制点而不是单个检测器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D9153-F760-48D3-8CD7-11E1175F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57250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模型前、工具前、工具后和审计复核共同构成安全边界。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573E9-10E9-4625-AB51-1C3F85CB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B7941-8CCD-4EEC-86C0-D562C542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Agent-Firewall 毕业论文答辩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33F76-1E2C-4723-94A8-9DAF4FAD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38900"/>
            <a:ext cx="30480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核心方法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AAB0A-4044-4D33-81A7-6A4B13F8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5715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D9B3B-D915-43BF-81F8-15935CE3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66950"/>
            <a:ext cx="1828800" cy="182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AF6"/>
          </a:solidFill>
          <a:ln xmlns:a="http://schemas.openxmlformats.org/drawingml/2006/main" w="19050">
            <a:solidFill>
              <a:srgbClr val="A8D5B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53FBB7-F664-4F6B-A41B-DA5DF9CE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1143000" cy="2476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模型前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07BFB7-B18D-4182-830B-9A98FAC3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90850"/>
            <a:ext cx="1352550" cy="3810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输入扫描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32B78-A7EF-4D73-8289-4C81D203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62350"/>
            <a:ext cx="1295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/v1/scan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92682-EF63-4BED-BCD7-6E492D16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71825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E012C7-A97D-499F-84B8-971B8982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48000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67CF6-0273-47F5-AC18-99D51675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66950"/>
            <a:ext cx="1828800" cy="182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8D5B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F73083-6ECB-4ACF-BE9D-386F30D3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71750"/>
            <a:ext cx="1143000" cy="2476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工具前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8CBA0-01F7-4BEE-B561-B3D2EA89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990850"/>
            <a:ext cx="1352550" cy="3810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执行门控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E9665F-47D5-41FC-AD47-68F64F0B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62350"/>
            <a:ext cx="1295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pre-tool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CCECED-B66A-4BD2-BD0D-AAF026FE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71825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97F023-8F31-47F0-847F-E7311A82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27C843-4AEC-4426-80D3-0F477DB0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1828800" cy="182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AF6"/>
          </a:solidFill>
          <a:ln xmlns:a="http://schemas.openxmlformats.org/drawingml/2006/main" w="19050">
            <a:solidFill>
              <a:srgbClr val="A8D5B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D8E135-EB4B-4242-8213-09C769B6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71750"/>
            <a:ext cx="1143000" cy="2476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工具后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18B6FA-5276-45A9-8DC3-75C9A39E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90850"/>
            <a:ext cx="1352550" cy="3810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输出清洗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35C69B-1A9A-45F7-8E3F-2190E383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62350"/>
            <a:ext cx="1295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post-tool gate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DFC94B-D51C-40B5-8217-29420F7F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71825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712387-BE2D-4609-9D69-A055BFF9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48000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382F36-2BD2-478D-819F-49E9EA9E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66950"/>
            <a:ext cx="1828800" cy="182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8D5B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A8605A-2E76-4048-B66A-F57B4F9D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71750"/>
            <a:ext cx="1143000" cy="2476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事后复核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D9DAFB-BBFF-4C53-B4B0-73422EE6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990850"/>
            <a:ext cx="1352550" cy="3810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证据链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D39D25-D3FF-4C8B-A468-2819067E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62350"/>
            <a:ext cx="1295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Trace / Audit</a:t>
            </a:r>
          </a:p>
        </p:txBody>
      </p:sp>
    </p:spTree>
    <p:extLst>
      <p:ext uri="{BB962C8B-B14F-4D97-AF65-F5344CB8AC3E}">
        <p14:creationId xmlns:p14="http://schemas.microsoft.com/office/powerpoint/2010/main" val="6154397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5E9C2C-CF0A-4BD7-8814-1411EBD3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扫描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7F5A3-CE56-4263-847B-18661727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144000" cy="438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/v1/scan 将输入风险聚合为统一裁决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314C4-CFF4-445F-AD1A-45399CDB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57250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它接收 OpenAI-compatible 请求字段，但 scan-only 不调用 LLM。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50334-1247-4CF6-9DDE-C24F2223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1AB28-5883-4EA1-BA00-CA321F8A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Agent-Firewall 毕业论文答辩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0A30C-9949-421D-942B-9155410E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38900"/>
            <a:ext cx="30480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核心方法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C5CC3-BA58-44E2-A833-27FC4472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5715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BD0ED-2AFC-465B-9EF4-4EDF133B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2381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097779-567B-466A-89C0-3A9D2491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211455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请求归一化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D30C0-95A3-430A-9962-A0DF4F4B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2114550" cy="3619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messages / policy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3981B-DB7F-4284-87FB-F86C7148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95550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1BB97-53E3-4323-B4A1-8D1E405C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71725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FCA945-BD32-46C9-BCA9-89362B8A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14550"/>
            <a:ext cx="2381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B95DF-3C59-4D59-BC89-E57F57C5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09800"/>
            <a:ext cx="211455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意图识别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214B9B-E534-4408-A785-4985DA34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19350"/>
            <a:ext cx="2114550" cy="3619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normal / attack / exfiltration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B1DF92-5E31-45B6-8F51-902C8CA8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95550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754DEE-EEFC-426E-A5AE-1EE1486F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71725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B6A73B-CFF9-4E42-842E-3BF53C9E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14550"/>
            <a:ext cx="2381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DEDD3B-6378-4CB6-B5B6-EDF1D56C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09800"/>
            <a:ext cx="211455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规则命中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027747-A425-4F6F-9C6B-DEE58C82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19350"/>
            <a:ext cx="2114550" cy="3619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denylist / custom rules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F7F1BE-F73E-446E-953C-1485DF8F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2381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E8EE90-CC76-40DA-8D21-AEEC63FE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211455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扫描器节点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06F5C2-5A15-464D-BF71-3EEDBDC2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2114550" cy="3619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PII / secrets / guardrails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A3A117-956E-4F1E-9474-3A5E96B0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24300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3171C1-3053-4958-814B-BA1CCD77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00475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07BB49-CCCF-4A99-984F-35A3EA64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43300"/>
            <a:ext cx="2381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1BF4B3-1DB6-40C3-BB64-5B658285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38550"/>
            <a:ext cx="211455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风险聚合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1211ED-AD87-4040-B9E7-4E4FE7ED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48100"/>
            <a:ext cx="2114550" cy="3619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score + flags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959258-7B5B-463A-AA0C-9423EA96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24300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5BDBE2-7AE4-41AE-8897-B9052906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00475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A379D3-B6CD-4783-9045-83D61C4A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43300"/>
            <a:ext cx="2381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F40858-9C54-4AFC-9A12-9518FCC4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211455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裁决返回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EC1BB8-006B-4EAB-947E-3ADBB85F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48100"/>
            <a:ext cx="2114550" cy="3619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ALLOW / MODIFY / BLOCK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D22014-0983-4A54-A8F9-C9BA7939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146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69E1BD-D338-477F-9C9B-2180CD7D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71850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▼</a:t>
            </a:r>
          </a:p>
        </p:txBody>
      </p:sp>
    </p:spTree>
    <p:extLst>
      <p:ext uri="{BB962C8B-B14F-4D97-AF65-F5344CB8AC3E}">
        <p14:creationId xmlns:p14="http://schemas.microsoft.com/office/powerpoint/2010/main" val="2950872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CC5C8D-D53A-4AD9-A405-8B581579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决策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2F1DF3-6C1D-49C8-9F2F-B99C3303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144000" cy="438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ALLOW、MODIFY、BLOCK 对应不同安全动作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38EC2-63BC-458F-8640-68C1C32F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57250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答辩时要强调 MODIFY 被 BLOCK 也计为安全边界有效，因为它没有放行敏感内容。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1A870-34B3-4B13-B757-F4218038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F904C-7C2F-4AAB-BF72-30421C81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Agent-Firewall 毕业论文答辩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CB86C6-1F0A-4DA7-B779-DFE2513E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38900"/>
            <a:ext cx="30480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核心方法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4291C-54ED-40DD-B9C4-41D07BDA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5715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1D2A6-4893-4F4B-909A-4D7EA26F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95500"/>
            <a:ext cx="2571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F7798-1765-4B7C-B2E5-14D34F5D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00300"/>
            <a:ext cx="2095500" cy="3810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ALLOW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7C2A2-4E4E-460A-BC47-D6F03D6A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0990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安全放行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AA0038-7466-423D-942D-8C94FF62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48050"/>
            <a:ext cx="1962150" cy="4191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进入模型或继续运行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8AF33-5561-4EE5-8713-80B4C749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2571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4288">
            <a:solidFill>
              <a:srgbClr val="FDBA7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0C682E-F367-466D-8E21-58330A81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00300"/>
            <a:ext cx="2095500" cy="3810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D8A2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D8A23A"/>
                </a:solidFill>
                <a:latin typeface="Arial Unicode MS"/>
                <a:ea typeface="Arial Unicode MS"/>
                <a:cs typeface="Arial Unicode MS"/>
              </a:rPr>
              <a:t>MODIFY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310536-FB1F-4F09-8279-E2E66D4A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0990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清洗修改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E1860-2904-4E19-83C3-BE50004C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48050"/>
            <a:ext cx="1962150" cy="4191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脱敏、截断或替换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F243CF-BBEE-4F2B-8E73-E895101B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2571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4288">
            <a:solidFill>
              <a:srgbClr val="FCA5A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0ED204-99C6-4710-A864-A7EB8AC1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00300"/>
            <a:ext cx="2095500" cy="3810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C2410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C2410C"/>
                </a:solidFill>
                <a:latin typeface="Arial Unicode MS"/>
                <a:ea typeface="Arial Unicode MS"/>
                <a:cs typeface="Arial Unicode MS"/>
              </a:rPr>
              <a:t>BLOCK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7F1ECB-5CF1-47B0-88C6-08678CB4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0990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阻断处理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DD23AB-4B31-4B86-BB51-AEBB4AA7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48050"/>
            <a:ext cx="1962150" cy="4191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返回 403 或生成审批项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3E5775-26D6-4E20-BF0C-5FB670DE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86300"/>
            <a:ext cx="6172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453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4532D"/>
                </a:solidFill>
                <a:latin typeface="Arial Unicode MS"/>
                <a:ea typeface="Arial Unicode MS"/>
                <a:cs typeface="Arial Unicode MS"/>
              </a:rPr>
              <a:t>统计口径：MODIFY 预期被 BLOCK 时，按安全边界有效计分。</a:t>
            </a:r>
          </a:p>
        </p:txBody>
      </p:sp>
    </p:spTree>
    <p:extLst>
      <p:ext uri="{BB962C8B-B14F-4D97-AF65-F5344CB8AC3E}">
        <p14:creationId xmlns:p14="http://schemas.microsoft.com/office/powerpoint/2010/main" val="164592990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647324-2833-4D70-A02E-8B740EC4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前置门控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5A36F-79C8-4B22-A268-3BFD7312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144000" cy="438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pre-tool gate 阻止模型计划直接驱动真实工具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CD924-1CF3-4A3F-92EE-EACBEEC3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57250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工具执行前检查角色、参数、上下文风险、预算和人工确认。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CF56D-960C-42CD-8D66-9F74D83E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286D8-B686-4CF8-A5E9-570EB9E3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Agent-Firewall 毕业论文答辩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8A8BC-7AE7-42D2-82E2-669D86AA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38900"/>
            <a:ext cx="30480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核心方法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795E3-3639-45D2-89D7-85D6E59D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5715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A43FA-051D-4F96-8B80-C5F09628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1638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6DDB3-D691-4E95-9108-82E3469F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137160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RBAC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40351-9039-4F2B-A8FF-2DF28FF5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1371600" cy="438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角色是否允许该工具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7C2442-F0ED-446C-82A0-E287A87A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718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E1E77C-0438-47DF-B681-F334A3F4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47975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283842-006C-481F-91F6-247B588E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71750"/>
            <a:ext cx="1638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C5E851-1B4E-41F0-AF49-17CF5143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67000"/>
            <a:ext cx="137160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Schema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E88AD2-F95B-4D50-86D7-2A5B7254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76550"/>
            <a:ext cx="1371600" cy="438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参数结构是否合规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F9F3BE-5D83-48D4-9E2D-73E8F2BA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718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672A82-C126-404C-963E-A8DFA8D5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47975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E70D73-FBC2-4120-98E2-C93BCD48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71750"/>
            <a:ext cx="1638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058288-7572-4067-9F3D-0077C7BF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67000"/>
            <a:ext cx="137160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Context 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5D1E4D-4E4C-4105-9DE9-058C8EE3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76550"/>
            <a:ext cx="1371600" cy="438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上下文是否存在外泄/注入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2CF53C-02E0-46DF-9FD7-0FC4F7AB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718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BE4F4B-A28C-4B0E-B743-7F99C35E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47975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727AA8-F2C6-4E6D-BC69-E3E54B37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71750"/>
            <a:ext cx="1638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CD8E9F-3514-419A-A108-CD8F8337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137160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Limits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F84C31-1F54-4A21-97DA-C3190597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76550"/>
            <a:ext cx="1371600" cy="438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次数、预算、会话状态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6182AE-DF0C-4ED6-B60E-E0033971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718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8E7663-3DF0-4D64-8EBE-11D17B51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47975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62D200-B775-4EE6-8BE5-EF7C702C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71750"/>
            <a:ext cx="1638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F2D0AC-07D7-4F55-A7A9-C0A4C971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67000"/>
            <a:ext cx="137160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Confirmation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B7E233-854D-43C1-BCAD-94C70759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76550"/>
            <a:ext cx="1371600" cy="438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高敏工具是否需要人工确认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649563-EC9C-4426-8FB3-79EE63A3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386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ALLOW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6B5F60-56C4-4111-AB7F-2A31AF60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4386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D8A2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8A23A"/>
                </a:solidFill>
                <a:latin typeface="Arial Unicode MS"/>
                <a:ea typeface="Arial Unicode MS"/>
                <a:cs typeface="Arial Unicode MS"/>
              </a:rPr>
              <a:t>MODIFY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719502-559B-4CD1-A306-9EE4D9CD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386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C2410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C2410C"/>
                </a:solidFill>
                <a:latin typeface="Arial Unicode MS"/>
                <a:ea typeface="Arial Unicode MS"/>
                <a:cs typeface="Arial Unicode MS"/>
              </a:rPr>
              <a:t>BLOCK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6A4AC8-FB7F-4521-B936-582B6A93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386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80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80ED"/>
                </a:solidFill>
                <a:latin typeface="Arial Unicode MS"/>
                <a:ea typeface="Arial Unicode MS"/>
                <a:cs typeface="Arial Unicode MS"/>
              </a:rPr>
              <a:t>REQUIRE_CONFIRMATION</a:t>
            </a:r>
          </a:p>
        </p:txBody>
      </p:sp>
    </p:spTree>
    <p:extLst>
      <p:ext uri="{BB962C8B-B14F-4D97-AF65-F5344CB8AC3E}">
        <p14:creationId xmlns:p14="http://schemas.microsoft.com/office/powerpoint/2010/main" val="21129944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3A3175-7355-49FD-B14F-9CB2D77F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后置门控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10AD2-0A3B-422F-93E0-0B9F00BD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144000" cy="438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post-tool gate 决定工具输出是否能进入上下文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89CFD-14D1-4F89-B3B4-15F0775F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57250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它处理 PII、密钥、连接串、间接注入和超长输出。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B8B0F7-5FCA-4E7C-9623-AFF2E89B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C8325-D42B-451F-B2F9-4B547B4C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Agent-Firewall 毕业论文答辩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31C72-A2FD-4EA8-875B-8F057AD2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38900"/>
            <a:ext cx="30480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核心方法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6BFDC5-0FC2-41A1-B0AD-540BA62C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5715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322A1-67E7-4954-A8C5-25AB3EA2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C3465-A2A0-4ECF-A003-7551E3C1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1809750" cy="7048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工具原始输出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untrusted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C028EB-D659-4F87-8466-EC9106B7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52650"/>
            <a:ext cx="2000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22AFF-C411-4261-947F-8565D571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28850"/>
            <a:ext cx="1809750" cy="5715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PII / secrets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检测与脱敏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2465F-EB83-4674-B407-4FBA7420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67100"/>
            <a:ext cx="2000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A34AD-2A9C-4E88-A482-AC2C5C1F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43300"/>
            <a:ext cx="1809750" cy="5715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间接注入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阻断隐藏指令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5B098-8F5A-47F0-82CD-968FAB03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2000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3891E-4A7F-4F69-A586-9FF13F24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76550"/>
            <a:ext cx="1809750" cy="5715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截断/替换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长度与预览治理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077F78-D0D5-40F2-AE77-5EB5ED45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71750"/>
            <a:ext cx="180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EB41C9-0670-4249-A3B1-6E769817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47950"/>
            <a:ext cx="1619250" cy="7048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安全上下文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sanitized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613CCE-C1BC-4602-AE33-85A1559C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908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E73C81-D7C7-4BC3-8F72-01D05DBD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67025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E9DDA7-9337-4CD8-A366-F5FB66C1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57FDB4-C06E-4A96-9DCF-003F99E0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67025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8D2EC2-2A7B-4D4E-AA16-55B1AF58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9085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F8B247-B6C2-4293-A5EA-97272B1A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67025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0BB16D-9993-4853-8AFA-EF5FCA83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8839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453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4532D"/>
                </a:solidFill>
                <a:latin typeface="Arial Unicode MS"/>
                <a:ea typeface="Arial Unicode MS"/>
                <a:cs typeface="Arial Unicode MS"/>
              </a:rPr>
              <a:t>关键原则：工具结果必须先被清洗，再进入后续模型上下文或最终回复。</a:t>
            </a:r>
          </a:p>
        </p:txBody>
      </p:sp>
    </p:spTree>
    <p:extLst>
      <p:ext uri="{BB962C8B-B14F-4D97-AF65-F5344CB8AC3E}">
        <p14:creationId xmlns:p14="http://schemas.microsoft.com/office/powerpoint/2010/main" val="10588336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EF427C-5A65-4AB3-BCBD-82D70A14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审批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CD78B-7346-4937-AA91-072701A6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144000" cy="438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intervention 把高风险动作变成可恢复状态机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6B438-D456-4D3A-9822-7E68B41A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57250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输入阻断、工具阻断和工具确认都能进入统一审批队列。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72A7F-B47C-493C-AB56-6A0F5204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1ECD0-8B9D-4C51-AB43-7094196B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Agent-Firewall 毕业论文答辩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F280D-A4A3-4718-9BB6-9F0E3E25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38900"/>
            <a:ext cx="30480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核心方法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9EA6F-143C-44C2-9D09-FA6399DC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5715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CC183-CDD8-48F3-A0C0-ACF40A23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1809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CDDD2-B3DD-4CC3-8D34-6C2F67E4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43200"/>
            <a:ext cx="1619250" cy="647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created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创建审批项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7B9CF-4187-49B9-984D-F1F1E6E4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480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7E88C-8DE7-4210-8E52-46D744D5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24175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002E46-44BE-4B0C-A094-DDF9C84B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1809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7CBE4-589B-4182-929D-41DC3D4D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43200"/>
            <a:ext cx="1619250" cy="647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pending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等待人工处理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910C2C-BA7D-4403-9879-3F84C0C5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480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3A"/>
          </a:solidFill>
          <a:ln xmlns:a="http://schemas.openxmlformats.org/drawingml/2006/main" w="0"/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756336-860B-4D6B-AE4C-8AF358E6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24175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D8A2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D8A23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3B59E6-6E2A-44B7-A1A6-51B533C2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1809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29B7D1-9018-41C7-80D9-8D123784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43200"/>
            <a:ext cx="1619250" cy="647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approved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携带 approved_intervention_id 重放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38EE5F-A2E6-44FA-AC60-9A2CA79C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480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86674C-8632-452A-9BAD-2C960F65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24175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694F71-FF59-4325-9129-FDAB0E39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0"/>
            <a:ext cx="1809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08B713-A3A6-4812-BE85-79140494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43200"/>
            <a:ext cx="1619250" cy="647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rejected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拒绝后不执行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6F6B50-B6D8-4E19-A7A2-10300955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8625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input_block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0F7CD1-7531-4E4D-A2A8-5D6C6615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28625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tool_block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B633DF-FC5E-4100-AEE2-35C21B0A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28625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tool_confirmation</a:t>
            </a:r>
          </a:p>
        </p:txBody>
      </p:sp>
    </p:spTree>
    <p:extLst>
      <p:ext uri="{BB962C8B-B14F-4D97-AF65-F5344CB8AC3E}">
        <p14:creationId xmlns:p14="http://schemas.microsoft.com/office/powerpoint/2010/main" val="162451821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68873B-93CB-4418-97C7-648DFA66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证据链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484F5-5718-4A59-A6C2-F9CE23BC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144000" cy="438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Trace 让一次请求的安全路径可复核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99D9E-5B32-48C6-AE6D-6D6280A9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57250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Trace-run 记录输入扫描、工具计划、门控决策、执行结果、后置清洗和最终回复。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5EA6B-4D39-4FD7-B0B3-1F281AEE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C01FD-A1A1-4648-8D7C-98E5F553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Agent-Firewall 毕业论文答辩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C947B-0626-4B3F-B39A-3DD90D29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38900"/>
            <a:ext cx="30480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核心方法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8A789-5C71-4A40-910C-1C547050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5715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A7AFB-4E21-4F13-806F-B90FF682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6690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input_scan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18204-E634-44FC-9019-6AE540DF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66900"/>
            <a:ext cx="590550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风险分数 / flags / reason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462B7E-7183-465B-9D4F-6C863BE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81225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A3FC70-DC74-4857-B922-692AF957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/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E19B68-9913-4D7B-99E7-993351C1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3840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tool_plan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7122D-5E65-4C2F-8F99-2B730061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38400"/>
            <a:ext cx="590550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模型提出的工具调用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0726A-EA9A-4D11-84DF-E329A1BC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52725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49BABF-59AF-46F5-ACA4-EABBEC69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23A"/>
          </a:solidFill>
          <a:ln xmlns:a="http://schemas.openxmlformats.org/drawingml/2006/main" w="0"/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762490-935F-4DA8-B0A7-41C8239B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990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pre_tool_decision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CD899E-866F-4376-AA9C-B3F77317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09900"/>
            <a:ext cx="590550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RBAC / schema / limits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C42349-5612-4924-A9CD-B76CC407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24225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059D71-B12F-4189-8233-F46AFD48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/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5A18DB-5840-47F5-886B-57C2FC00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8140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tool_execution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D2D2EF-B426-46D8-A588-897A7D7B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81400"/>
            <a:ext cx="590550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provider / args / latency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C9EBEF-6A58-4C09-AB75-00B527EC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95725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9BC71C-AFAB-410B-A6E2-86E46F05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23A"/>
          </a:solidFill>
          <a:ln xmlns:a="http://schemas.openxmlformats.org/drawingml/2006/main" w="0"/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973712-AF6B-4B6F-9710-86AE44BB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5290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post_tool_decision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22DDCB-3CCE-41C1-B612-1A6255D3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152900"/>
            <a:ext cx="590550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redact / block / truncate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3AA92D-15BE-4ADA-B598-1CF4E121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67225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80A8F8-5799-4B07-9896-2868FA60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0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/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26113B-79AB-485C-B2E5-6437A8F1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2440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final_reply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D81B13-6DED-41D1-A6E8-A9080C9D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724400"/>
            <a:ext cx="590550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最终回复与状态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C081FC-1319-4A73-8810-CD426D28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38725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13F562-9830-4ABA-95A8-7DFD2170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81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23A"/>
          </a:solidFill>
          <a:ln xmlns:a="http://schemas.openxmlformats.org/drawingml/2006/main" w="0"/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c0dbd7b3f44e9e"/>
          <a:srcRect xmlns:a="http://schemas.openxmlformats.org/drawingml/2006/main" l="2652" t="0" r="26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67750" y="2019300"/>
            <a:ext cx="2381250" cy="2095500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</p:spTree>
    <p:extLst>
      <p:ext uri="{BB962C8B-B14F-4D97-AF65-F5344CB8AC3E}">
        <p14:creationId xmlns:p14="http://schemas.microsoft.com/office/powerpoint/2010/main" val="116114565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296812-00DF-480A-9CEC-FA44D1FE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实验设计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60FD6-B2C5-46DE-8261-BC63A510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144000" cy="438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实验口径同时覆盖项目回归、链路回放和真实复测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096A3-5013-42E0-B74D-831D8D95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57250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358 个 JSON 场景是主实验分母，147 个 YAML 场景作为独立场景资产说明。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51E12-2F82-4458-9BB0-496862F2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55AED-176C-4564-B31C-EA807D72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Agent-Firewall 毕业论文答辩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86D5A-58D8-4417-8791-A324BE95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38900"/>
            <a:ext cx="30480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实验结果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64E28-908C-49F7-9A92-329D9CB6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5715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67A7C-8761-4723-948B-7C06BE7B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7170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D6CE3B-DBAA-4114-B3E0-BE0BA388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75260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358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8114FC-BB8A-46A0-AAAD-7BAE47A9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95600"/>
            <a:ext cx="1752600" cy="2476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JSON 项目回归场景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F04C63-F882-421B-AC36-371A5084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7170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BD2869-27AF-43B6-88FE-D05FF28F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43150"/>
            <a:ext cx="175260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147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2F3566-9D5E-47FE-BFC1-E4E7BF7D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95600"/>
            <a:ext cx="1752600" cy="2476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YAML 独立场景资产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7EB1EC-E00B-4B99-BC08-4A76A4D7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5D1063-5A66-472E-B8EE-3EF22AC3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175260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40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A835DF-9DA0-42BD-8188-AA5C07A3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95600"/>
            <a:ext cx="1752600" cy="2476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公开基准映射场景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93B633-CF8C-4671-9BB6-A4672533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7170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BD2E0A-DACD-44B6-A7EF-BAB3A6D9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43150"/>
            <a:ext cx="175260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复测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1B890C-D9DE-4FCC-B0A5-407F3A70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95600"/>
            <a:ext cx="1752600" cy="2476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本机 OpenClaw/Telegram 小样本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8331F1-5A81-41EF-88A9-408931D1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10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/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EECF8E-40D8-4BFA-9EA9-E9F9B9FE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43350"/>
            <a:ext cx="8820150" cy="3810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主实验：playground.json + agent.json，覆盖输入层和工具调用语境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0EF0D4-5F63-451D-A36D-E7F91104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67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/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3E6005-E08B-4865-94BF-117B0CD7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00550"/>
            <a:ext cx="8820150" cy="3810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Agent 层测试：pre-tool、post-tool、RBAC、运行图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48AD2D-0A8A-460F-BC66-A59A3B68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24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/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F493F5-0E10-4F4D-96F9-0B308E1D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8820150" cy="3810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工具链回放：跨工具计划、审批重放、输出清洗和 Trace 连续状态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1F1EE3-F1BC-4DDB-866F-A53F9FC4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81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/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FC9859-E607-4D04-AE40-41A3C1CC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14950"/>
            <a:ext cx="8820150" cy="3810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真实复测：受保护 /agent/chat 与 direct 对照区分</a:t>
            </a:r>
          </a:p>
        </p:txBody>
      </p:sp>
    </p:spTree>
    <p:extLst>
      <p:ext uri="{BB962C8B-B14F-4D97-AF65-F5344CB8AC3E}">
        <p14:creationId xmlns:p14="http://schemas.microsoft.com/office/powerpoint/2010/main" val="97397945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946048-F0B9-48FD-BB37-DC7DF21A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数据分布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13A21-69EE-4A6E-B55B-E2B1A045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144000" cy="438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主实验以攻击/敏感样本为主，并保留安全放行样本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BAA9D-662F-4C04-BF86-D07598F2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57250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358 个场景中包含 322 个预期 BLOCK、16 个预期 MODIFY 和 20 个预期 ALLOW。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D82DE-1454-4FF5-A2A9-18BBA46A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F4919-C053-48F4-9488-08E6999B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Agent-Firewall 毕业论文答辩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536E9-1E04-4A04-BA87-69B9C2C8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38900"/>
            <a:ext cx="30480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实验结果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0AEEF-52C0-4C93-984C-DB3A8AFF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5715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A4CFCF-7B6C-4261-8C7C-ED6D116F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71700"/>
            <a:ext cx="17145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预期 BLOCK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2B2F2A-196E-477C-B81D-07D665AC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90750"/>
            <a:ext cx="533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0"/>
          </a:solidFill>
          <a:ln xmlns:a="http://schemas.openxmlformats.org/drawingml/2006/main" w="0"/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38E61-226B-4D3D-B92D-82E513D7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90750"/>
            <a:ext cx="479762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410C"/>
          </a:solidFill>
          <a:ln xmlns:a="http://schemas.openxmlformats.org/drawingml/2006/main" w="0"/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D0209-920E-4D37-9A2F-E2660946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71700"/>
            <a:ext cx="47625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C2410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C2410C"/>
                </a:solidFill>
                <a:latin typeface="Arial Unicode MS"/>
                <a:ea typeface="Arial Unicode MS"/>
                <a:cs typeface="Arial Unicode MS"/>
              </a:rPr>
              <a:t>322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2E930F-FFEB-4676-8EDE-F9885A66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52700"/>
            <a:ext cx="17145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预期 MODIFY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97899-EA79-4F53-9906-017DE1D0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71750"/>
            <a:ext cx="533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0"/>
          </a:solidFill>
          <a:ln xmlns:a="http://schemas.openxmlformats.org/drawingml/2006/main" w="0"/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2E2232-4854-4CE5-B54B-542AA5B6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71750"/>
            <a:ext cx="238391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23A"/>
          </a:solidFill>
          <a:ln xmlns:a="http://schemas.openxmlformats.org/drawingml/2006/main" w="0"/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311E3F-C93B-4A81-A1DF-49821C58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52700"/>
            <a:ext cx="47625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D8A2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D8A23A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97090A-A09C-4EAA-97C2-B7A6C331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17145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预期 ALLOW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F4EA28-7086-49D2-8E0D-E767E350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52750"/>
            <a:ext cx="533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0"/>
          </a:solidFill>
          <a:ln xmlns:a="http://schemas.openxmlformats.org/drawingml/2006/main" w="0"/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C71B44-C7E7-45E2-BFE7-E31FF724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52750"/>
            <a:ext cx="297989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4A"/>
          </a:solidFill>
          <a:ln xmlns:a="http://schemas.openxmlformats.org/drawingml/2006/main" w="0"/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683DF9-4C20-49BF-A136-ADD97364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33700"/>
            <a:ext cx="47625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D65A38-A755-419D-9C1D-B8DDDE73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9550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A8D5B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2338CF-2DC6-4B1D-A34E-ED9C4669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05050"/>
            <a:ext cx="2438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答辩要点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9C407E-6B89-4001-84EC-74B1BC15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2438400" cy="1066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direct 不执行系统级阻断或清洗，因此只能在 20 个安全 ALLOW 样本上符合预期。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8E03ED-719E-4FDC-A8C9-9C5FF70E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0100"/>
            <a:ext cx="20478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Prompt Injection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51063F-EBE1-4538-9145-90D4F903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10100"/>
            <a:ext cx="20478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Tool Abuse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AC77EF-BF75-4629-9933-416C9240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610100"/>
            <a:ext cx="20478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PII / Secrets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352276-93FC-41A2-A0C6-EC6374AD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10100"/>
            <a:ext cx="20478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Obfuscation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063C88-B9C6-48AF-AC92-BA63289E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29200"/>
            <a:ext cx="20478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Multi-Language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4E76DA-2980-4ECA-A6C4-698E6DAF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29200"/>
            <a:ext cx="20478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RAG Poisoning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298536-8310-4F34-A6FC-BA93D21A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29200"/>
            <a:ext cx="20478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Confused Deputy</a:t>
            </a:r>
          </a:p>
        </p:txBody>
      </p:sp>
    </p:spTree>
    <p:extLst>
      <p:ext uri="{BB962C8B-B14F-4D97-AF65-F5344CB8AC3E}">
        <p14:creationId xmlns:p14="http://schemas.microsoft.com/office/powerpoint/2010/main" val="60223352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9E613F-9A0A-478D-93AF-550DB521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策略阶梯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3DCAE-FFB2-442B-B881-967209C6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144000" cy="438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从未保护直连到 paranoid，正确场景数显著提升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555C8-8136-411B-8255-10D31A28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57250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docx 口径：direct 20/358，fast 327/358，balanced/strict 331/358，paranoid 344/358。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D0566-B61A-47E3-BFF4-36026AB0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C23CD-CED6-4C1E-AC3A-F79A1E67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Agent-Firewall 毕业论文答辩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0CD13-E6BD-4AAF-AF33-49DF92EA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38900"/>
            <a:ext cx="30480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实验结果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27E11-8DC8-4254-B7E2-E19AC664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5715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BD609F-2E2D-4452-A2F1-00DB15A1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84906"/>
            <a:ext cx="1123950" cy="148994"/>
          </a:xfrm>
          <a:prstGeom xmlns:a="http://schemas.openxmlformats.org/drawingml/2006/main" prst="roundRect">
            <a:avLst>
              <a:gd name="adj" fmla="val 38357"/>
            </a:avLst>
          </a:prstGeom>
          <a:solidFill xmlns:a="http://schemas.openxmlformats.org/drawingml/2006/main">
            <a:srgbClr val="6B7280"/>
          </a:solidFill>
          <a:ln xmlns:a="http://schemas.openxmlformats.org/drawingml/2006/main" w="0"/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EBDDF-4AB6-47D9-8D1B-EC8E8DAC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61056"/>
            <a:ext cx="1123950" cy="2476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410D14-8397-4F4E-9E9C-6FA5FA89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24400"/>
            <a:ext cx="150495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direct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0F3000-90EA-4780-BD7A-A9EACF90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97841"/>
            <a:ext cx="1123950" cy="2436059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CB8986-0344-4B69-859E-223F0A38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73991"/>
            <a:ext cx="1123950" cy="2476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327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B1402F-9828-41E0-9D92-E60BF928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724400"/>
            <a:ext cx="150495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fast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4B06C3-D2FA-46F5-88BD-9320D637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68042"/>
            <a:ext cx="1123950" cy="2465858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2F7D4A"/>
          </a:solidFill>
          <a:ln xmlns:a="http://schemas.openxmlformats.org/drawingml/2006/main" w="0"/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4E038-B1B1-4733-A445-D3E7F5F6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44192"/>
            <a:ext cx="1123950" cy="2476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331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15876F-063D-474F-B81A-FDE63FCB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24400"/>
            <a:ext cx="150495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balanced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D71832-F60D-46E0-BBFC-D19FD8CC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68042"/>
            <a:ext cx="1123950" cy="2465858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/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1E3EC7-8652-4F30-80EA-B8DE580C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44192"/>
            <a:ext cx="1123950" cy="2476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F80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2F80ED"/>
                </a:solidFill>
                <a:latin typeface="Arial Unicode MS"/>
                <a:ea typeface="Arial Unicode MS"/>
                <a:cs typeface="Arial Unicode MS"/>
              </a:rPr>
              <a:t>331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D5D3B8-64B7-46EA-9FFA-4ADD9108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24400"/>
            <a:ext cx="150495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strict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291878-DB78-4F97-9279-83146153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71196"/>
            <a:ext cx="1123950" cy="2562704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D8A23A"/>
          </a:solidFill>
          <a:ln xmlns:a="http://schemas.openxmlformats.org/drawingml/2006/main" w="0"/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B82765-C0A5-4025-8DBF-ECFFF91B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47346"/>
            <a:ext cx="1123950" cy="2476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D8A2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D8A23A"/>
                </a:solidFill>
                <a:latin typeface="Arial Unicode MS"/>
                <a:ea typeface="Arial Unicode MS"/>
                <a:cs typeface="Arial Unicode MS"/>
              </a:rPr>
              <a:t>344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6F5D7C-E2E4-4E5E-9AAA-B150F513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24400"/>
            <a:ext cx="150495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paranoid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810013-D47B-4C25-B110-B2BAB038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EED6E1-69AF-4280-B0DD-C7D30A5E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38350"/>
            <a:ext cx="171450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场景总数：358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79B312-8D77-47EE-AF60-05836008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429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CA5A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834FDA-27BB-44CC-99EF-C5DB315D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62600"/>
            <a:ext cx="51435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C2410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2410C"/>
                </a:solidFill>
                <a:latin typeface="Arial Unicode MS"/>
                <a:ea typeface="Arial Unicode MS"/>
                <a:cs typeface="Arial Unicode MS"/>
              </a:rPr>
              <a:t>27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39A596-511E-40D1-B6C6-54E267B4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524500"/>
            <a:ext cx="1619250" cy="342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balanced / strict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剩余未符合预期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077C68-852B-4789-A87F-C451223D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29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3D51D7-61E8-48FF-82CA-6961685A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562600"/>
            <a:ext cx="51435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D8A2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8A23A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115E4E-DB96-4FB5-885C-B4D25F0B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24500"/>
            <a:ext cx="1524000" cy="342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paranoid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剩余未符合预期</a:t>
            </a:r>
          </a:p>
        </p:txBody>
      </p:sp>
    </p:spTree>
    <p:extLst>
      <p:ext uri="{BB962C8B-B14F-4D97-AF65-F5344CB8AC3E}">
        <p14:creationId xmlns:p14="http://schemas.microsoft.com/office/powerpoint/2010/main" val="36094901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B25B54-B7CA-4A8C-9E33-5C307641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单元测试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9D8E3-D704-4030-B277-AA8801AF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144000" cy="438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125 个 Agent 层门控测试全部通过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ED608-8698-4DE0-8EBF-71624249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57250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覆盖 pre-tool、post-tool、RBAC 和运行图行为。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C4C33-7854-4A62-8488-BC6B11E9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0924F-07DE-4379-8702-7AC51AD5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Agent-Firewall 毕业论文答辩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CFA15-2462-47BE-A271-12B9232A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38900"/>
            <a:ext cx="30480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实验结果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E0157-BFFC-4C4C-B28E-35AF072C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5715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3CE07-F00A-4EAA-B33A-DF757D09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1455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B645A-CE7E-4BA7-95EE-54CEA0A7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86000"/>
            <a:ext cx="299085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125 / 125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4B389D-467D-462C-907D-C721B8EA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2990850" cy="2476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Agent 核心门控测试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0BC352-7E1F-4709-9468-7F9D32DF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6F83C0-9DEB-4AFA-8F18-09FDBC29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57400"/>
            <a:ext cx="1981200" cy="3810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测试文件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21B33-CAD5-4010-85F2-89E15439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57400"/>
            <a:ext cx="3981450" cy="3810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覆盖内容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B4EBE-8F3D-4085-BDB1-C87CD39D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002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FA94B6-E8EF-4715-870C-98403B4A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955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DEDDC6-9001-4354-A5B6-CEE2C48E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52700"/>
            <a:ext cx="1981200" cy="3810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test_pre_tool_gate.py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815B7-389B-4712-84BE-DA1D935A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52700"/>
            <a:ext cx="3981450" cy="3810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RBAC、参数注入、上下文外泄、限额、确认流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DE093B-9D65-4CD2-8AF4-470398BE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955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62C23F-6ACC-4842-8F90-ACDEDD85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908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C6E046-89BE-43BA-B12B-85924645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48000"/>
            <a:ext cx="1981200" cy="3810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test_post_tool_gate.py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615879-E385-4024-8D43-1225A9C8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48000"/>
            <a:ext cx="3981450" cy="3810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邮箱、电话、SSN、信用卡、IP、密钥、间接注入、截断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7C03FD-E306-4327-8522-68E37D1F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908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B43EA4-6AD9-4962-8FA7-ED3FC476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861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234E1C-4CAB-4154-B677-F94721F3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43300"/>
            <a:ext cx="1981200" cy="3810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test_rbac.py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4BDB97-8000-42B0-814C-301322A3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43300"/>
            <a:ext cx="3981450" cy="3810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角色继承、scope、默认拒绝、敏感工具确认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FB02F8-4965-48B0-B351-B076D85C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861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55C550-D999-4119-95FB-0F15905D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814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734549-EC1B-41DC-9882-40BAD668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38600"/>
            <a:ext cx="1981200" cy="3810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test_graph.py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30351E-1CE9-48A3-9480-F5829A02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38600"/>
            <a:ext cx="3981450" cy="3810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运行图、问候流程、工具计划、普通用户密钥访问拦截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AF6596-3EEA-49C7-A316-3F9A791C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814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B5D4C4-5635-48DD-B34F-2AD80055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9600"/>
            <a:ext cx="9048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453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4532D"/>
                </a:solidFill>
                <a:latin typeface="Arial Unicode MS"/>
                <a:ea typeface="Arial Unicode MS"/>
                <a:cs typeface="Arial Unicode MS"/>
              </a:rPr>
              <a:t>结论：工具执行前后的基础安全机制在纯内存单元测试中稳定。</a:t>
            </a:r>
          </a:p>
        </p:txBody>
      </p:sp>
    </p:spTree>
    <p:extLst>
      <p:ext uri="{BB962C8B-B14F-4D97-AF65-F5344CB8AC3E}">
        <p14:creationId xmlns:p14="http://schemas.microsoft.com/office/powerpoint/2010/main" val="164548983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3FDB2E-B594-4F09-A06A-A8BD33C0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链路回放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CF602-2E00-4716-BBB2-939229EE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144000" cy="438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11 个工具链离线回放验证连续状态转移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1BA68-308F-463D-A321-1D3984C5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57250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回放不调用外部 LLM 或真实工具，而是复用门控节点与 TraceAccumulator。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3886B-313F-4A18-A377-5F089386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9FC49-C45F-4015-BBF0-398618D4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Agent-Firewall 毕业论文答辩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9B2B6-16FD-4685-B9B7-4F798782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38900"/>
            <a:ext cx="30480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实验结果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01DFB-557D-4062-B37F-81353C5C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5715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26372-E29E-4B2E-B6C3-59B7D756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2571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9EC699-014F-432F-8268-DBECC4DD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28850"/>
            <a:ext cx="222885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11 / 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DB9AE-9A49-436E-8EDD-0A9DA32C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2228850" cy="2476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工具链离线回放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E09B2-7185-4D97-ADCA-8B59D89D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62150"/>
            <a:ext cx="2619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5F4C6A-E78C-461B-B0A3-4B25FBD4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38350"/>
            <a:ext cx="2428875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正常多工具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12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ALLOW → 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1AAEBC-CA3C-4A7B-9AC6-12B7BC6F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62150"/>
            <a:ext cx="2619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820A4A-AB82-4050-9ADD-64E7A024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38350"/>
            <a:ext cx="2428875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RBAC 部分拦截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12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ALLOW + BLOCK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03B19-377B-4D6C-BEF7-9DBA278E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24150"/>
            <a:ext cx="2619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E7AE3E-4999-4969-AA08-BE9C1FFA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0350"/>
            <a:ext cx="2428875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参数注入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12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BLOCK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0E811E-0F94-4F6E-BBB4-B4C1DAD4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24150"/>
            <a:ext cx="2619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4145A9-01AE-4273-9E70-A15AFA46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0350"/>
            <a:ext cx="2428875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上下文外泄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12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BLOCK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172BCA-D67A-42E2-A4FF-B006C06C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86150"/>
            <a:ext cx="2619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FF16E8-A7AB-4D22-867B-DF6909CD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62350"/>
            <a:ext cx="2428875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高敏确认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12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REQUIRE_CONFIRMATION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98AE51-04BA-4A45-A25B-2EE1421B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2619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5BBB79-2C00-40C6-A030-F7237CF7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62350"/>
            <a:ext cx="2428875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审批后重放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12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ALLOW → REDACT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757BBD-E349-4155-B6CF-149919CF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48150"/>
            <a:ext cx="2619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7C0153-BE39-4AEF-8E21-386DD9C8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24350"/>
            <a:ext cx="2428875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间接注入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12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ALLOW → BLOCK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208FBE-225C-47DD-A513-6AFC8488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48150"/>
            <a:ext cx="2619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5B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4AC941-4116-493C-BE66-27470D9C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24350"/>
            <a:ext cx="2428875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委派清洗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125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ALLOW → REDACT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01e7146ad479e"/>
          <a:stretch xmlns:a="http://schemas.openxmlformats.org/drawingml/2006/main"/>
        </p:blipFill>
        <p:spPr>
          <a:xfrm xmlns:a="http://schemas.openxmlformats.org/drawingml/2006/main">
            <a:off x="1250021" y="3714750"/>
            <a:ext cx="2129108" cy="1619250"/>
          </a:xfrm>
          <a:prstGeom xmlns:a="http://schemas.openxmlformats.org/drawingml/2006/main" prst="roundRect">
            <a:avLst>
              <a:gd name="adj" fmla="val 3529"/>
            </a:avLst>
          </a:prstGeom>
        </p:spPr>
      </p:pic>
    </p:spTree>
    <p:extLst>
      <p:ext uri="{BB962C8B-B14F-4D97-AF65-F5344CB8AC3E}">
        <p14:creationId xmlns:p14="http://schemas.microsoft.com/office/powerpoint/2010/main" val="187442257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12ADB6-9F01-4392-916A-D4BDDEE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映射评测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F31FE-B49D-489C-B23D-9E15B465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144000" cy="438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40 条公开基准启发场景在受保护链路上完成执行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6F3B7-1793-4DC1-8399-C1B308B2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57250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36/40 通过，15 条输入层阻断，且无真实工具执行。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DB25D-0C62-4235-90A0-73DC544F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7F438-CF4F-4728-83CD-8CEF9010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Agent-Firewall 毕业论文答辩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6F84F-F664-4C9C-B5E5-D8E975EB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38900"/>
            <a:ext cx="30480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实验结果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EA4A3-3FE6-4202-9AFB-3ABC2A15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5715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7C039-4CA2-4A93-9310-11C38CC5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EE457-FCD3-477C-9E22-4F6252E5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165735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36 / 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E31F6B-D071-4B28-95EF-EB7E42D3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1657350" cy="2476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通过场景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7DB5A-24C0-49E4-A089-E3BEDCF6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09550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36506-9BC0-4921-B628-17C8F82E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66950"/>
            <a:ext cx="127635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90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C344A5-1AEA-4AFE-BD40-C1916320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81300"/>
            <a:ext cx="1276350" cy="2476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简单得分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2363A9-6AEE-4803-BB66-7E74AA4C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95500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D9F087-331A-4270-90F5-F6A2C21C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66950"/>
            <a:ext cx="146685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36F807-64C1-4160-A5EB-1F89404C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81300"/>
            <a:ext cx="1466850" cy="2476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输入层阻断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10B126-D55E-4177-85A1-224A53C5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95500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C0A310-095A-4521-944A-D996F5A9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66950"/>
            <a:ext cx="146685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>
                <a:solidFill>
                  <a:srgbClr val="C2410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C2410C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0A7C08-B935-447B-80D8-D2D0DE30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81300"/>
            <a:ext cx="1466850" cy="2476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真实工具执行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6522c8d9644b53"/>
          <a:srcRect xmlns:a="http://schemas.openxmlformats.org/drawingml/2006/main" l="0" t="15946" r="0" b="159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" y="3600450"/>
            <a:ext cx="3524250" cy="200025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262573-822D-4071-9EBD-0686F66A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52850"/>
            <a:ext cx="4095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A8D5B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ABF41D-CF1D-40A3-91FB-01533A40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962400"/>
            <a:ext cx="367665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答辩要点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A71D23-29FF-4248-9B5C-F31CD84C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305300"/>
            <a:ext cx="3676650" cy="781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4 个失败均为拒绝或安全解释中回显攻击标记，反映的是输出回显治理不足，而非真实工具副作用。</a:t>
            </a:r>
          </a:p>
        </p:txBody>
      </p:sp>
    </p:spTree>
    <p:extLst>
      <p:ext uri="{BB962C8B-B14F-4D97-AF65-F5344CB8AC3E}">
        <p14:creationId xmlns:p14="http://schemas.microsoft.com/office/powerpoint/2010/main" val="48636163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59137F-47C7-4564-9362-BA7F41D8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真实复测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15E15-33DE-4BD1-99B7-C634C17A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144000" cy="438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OpenClaw/Telegram 小样本证明受保护 provider 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7A851-FC8C-43C7-8B73-C095A9C3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57250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安全摘要请求会进入 provider；泄露 system prompt/API key 请求在模型前被阻断。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781D3-72A6-4316-8C50-AD361023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2F967-5EF9-4941-BDA8-753E126C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Agent-Firewall 毕业论文答辩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1CC2D-6DD1-4AA1-B1A6-DD780A57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38900"/>
            <a:ext cx="30480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实验结果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15678-DB9E-4644-9402-C1789B9B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5715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57ABB-7E9E-42A2-BC32-D55661FA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24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1523C-10AF-4C34-891E-C28878F1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609600" cy="342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编号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AFC8D6-86D5-490F-8F2E-8405FDBC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00250"/>
            <a:ext cx="1028700" cy="342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24D91-01B7-42C8-8329-7B1E34E8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431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803A0C-45B1-499A-B961-3EA0F051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00250"/>
            <a:ext cx="3314700" cy="342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关键结果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8352F5-C597-49F5-A2C6-8141F026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431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3A4D5-7A3E-46FC-8A5B-599F632C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00250"/>
            <a:ext cx="4838700" cy="342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安全含义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ADC5B-A92F-4187-9712-DABC508F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58B685-FCDF-4AF0-ABBE-EE0F9BFE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1024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379C7C-66C1-4A30-8361-88848DBC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609600" cy="342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OC-01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57B65E-F285-4EFE-B45D-DEEA670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57450"/>
            <a:ext cx="1028700" cy="342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/agent/chat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D61EA0-C033-4E48-9344-2DEB880C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003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DE7CC2-14DA-44DD-93FF-74083A49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57450"/>
            <a:ext cx="3314700" cy="342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ALLOW，openclaw_summarize，10279 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B1A233-BB90-4C2C-96BF-D827F0AB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003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513A76-896E-4D35-A41F-C01FE76D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57450"/>
            <a:ext cx="4838700" cy="342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完整经过 scan、pre、provider、post、Trace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764B61-7D03-4AD9-984F-D4AAE81A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003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D30E31-DA28-43BC-A646-3D957AE3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24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F5480B-49D1-4323-ACA4-DD8F4BC3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609600" cy="342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OC-02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7D734D-EE42-4AD8-9648-985952A8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14650"/>
            <a:ext cx="1028700" cy="342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/agent/chat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0C2317-FFFE-4473-8BE1-72661454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575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F0F130-D5CB-4163-A67E-C4F4DC33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14650"/>
            <a:ext cx="3314700" cy="342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BLOCK，risk_score=1.0，66 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202E4E-7B36-4C75-868A-1885E84D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575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0AF660-F051-49BA-8BF4-FFB06AD2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14650"/>
            <a:ext cx="4838700" cy="342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输入层阻断，无工具执行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595437-7079-4396-8176-33894A8D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575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F7660E-53FA-4B1A-BDE2-B20ABEE0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1024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674676-0E18-449B-A281-D5868F1E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609600" cy="342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OC-03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CEDD2A-5BF7-48D6-8FCA-6EE08146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71850"/>
            <a:ext cx="1028700" cy="342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direct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29FE4A-48B9-43CD-BB5E-9426DE68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147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1340C5-5627-427D-89F2-567EFA33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71850"/>
            <a:ext cx="3314700" cy="342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HTTP 200，5536 ms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969959-99EB-4846-B26D-759E9B0A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8DDA47-706B-40A1-B21D-284F1C2E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71850"/>
            <a:ext cx="4838700" cy="342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Compare 对照，不产生受保护 Trace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C3AB41-F399-4AE6-AF10-6D084957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147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EB31E1-9858-4E01-AF42-452EBBBC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1024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D60684-442C-450E-8458-F0ED0CE8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609600" cy="342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TG-01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B7AF21-03E6-48B9-9F4D-7174FE58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29050"/>
            <a:ext cx="1028700" cy="342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Telegram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443786-8C37-4D30-A551-EA1E0E33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719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D2C86C-A621-4141-8B83-BB070C8C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29050"/>
            <a:ext cx="3314700" cy="342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ALLOW，REDACT，8698 ms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79018A-1977-419C-BB21-993E93A2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719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7BE5E50-5E13-455F-A53B-918ED5F1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29050"/>
            <a:ext cx="4838700" cy="342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真实入口进入 OpenClaw skill 链路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5C8CDB-2062-4B72-B366-CF03FF6F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719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5E9FD4A-6336-4E06-903F-F49D67DA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1024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D7E5DC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108B524-1403-45CC-BF04-C33FD1A5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609600" cy="342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TG-02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CD2503F-482F-4565-9004-7A958C17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86250"/>
            <a:ext cx="1028700" cy="342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Telegram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3ED915A-2487-43C7-906F-CD8F8D75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1367F1E-F7A6-4E61-9209-B5083C40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86250"/>
            <a:ext cx="3314700" cy="342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BLOCK，47 ms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6087868-2D20-437F-8134-27E4450A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2291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FBE0D79-3CC9-4184-8BBF-0B9CAE1E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86250"/>
            <a:ext cx="4838700" cy="342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泄露请求在模型调用前阻断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6E208BE-24F2-41F1-A0B9-7947A7EE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291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55c657919444ee"/>
          <a:stretch xmlns:a="http://schemas.openxmlformats.org/drawingml/2006/main"/>
        </p:blipFill>
        <p:spPr>
          <a:xfrm xmlns:a="http://schemas.openxmlformats.org/drawingml/2006/main">
            <a:off x="8523677" y="4933950"/>
            <a:ext cx="1431146" cy="8001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</p:spTree>
    <p:extLst>
      <p:ext uri="{BB962C8B-B14F-4D97-AF65-F5344CB8AC3E}">
        <p14:creationId xmlns:p14="http://schemas.microsoft.com/office/powerpoint/2010/main" val="163465168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09A101-0CF5-4153-BD77-D98AD074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15843-18B2-4FC9-A0BC-32EBD42F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144000" cy="438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剩余问题集中在检测信号和长期状态建模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1B045-9DBC-4AAC-AFF6-F1E88804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57250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4B5563"/>
                </a:solidFill>
                <a:latin typeface="Arial Unicode MS"/>
                <a:ea typeface="Arial Unicode MS"/>
                <a:cs typeface="Arial Unicode MS"/>
              </a:rPr>
              <a:t>这些局限是后续工作，不应在答辩中回避。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0ADAE-E531-489B-8800-1306C2BF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C"/>
          </a:solidFill>
          <a:ln xmlns:a="http://schemas.openxmlformats.org/drawingml/2006/main" w="0"/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2CC959-514F-4950-A1D6-9C5CD83D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Agent-Firewall 毕业论文答辩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9E55A-E768-4B88-A0EF-C46484DA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38900"/>
            <a:ext cx="30480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总结展望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96B1D-5BA2-4706-B7EF-C766547C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5715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6B7280"/>
                </a:solidFill>
                <a:latin typeface="Arial Unicode MS"/>
                <a:ea typeface="Arial Unicode MS"/>
                <a:cs typeface="Arial Unicode MS"/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892B7-62FD-4573-A3CA-137DACE1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288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语义检测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46F26-ADE1-4585-B359-0584FF22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38325"/>
            <a:ext cx="7810500" cy="3238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自然语言密钥描述、社会工程话术、Prompt Injection 变体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D4313-8F87-4B27-8635-E840FE1C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527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多语言与混淆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30F95-20C1-459F-BD5E-552B3A08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62225"/>
            <a:ext cx="7810500" cy="3238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ROT13、Caesar、反向文本、Leetspeak、Unicode 混淆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529A4E-D6AC-459F-83EF-CE4DF130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766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多轮状态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706878-4750-423C-8A66-05587FA0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86125"/>
            <a:ext cx="7810500" cy="3238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低慢诱导、长期记忆污染、跨会话策略漂移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715DA9-8DE9-4176-9D2D-60CCB32B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F7D4A"/>
                </a:solidFill>
                <a:latin typeface="Arial Unicode MS"/>
                <a:ea typeface="Arial Unicode MS"/>
                <a:cs typeface="Arial Unicode MS"/>
              </a:rPr>
              <a:t>输出回显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8C273D-D05C-4F64-A2CD-4050D899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10025"/>
            <a:ext cx="7810500" cy="3238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拒绝解释中仍可能复述攻击标记或危险命令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46AAA3-8F52-4C21-B5AA-FCE0ACCB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244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A8D5BA"/>
            </a:solidFill>
          </a:ln>
        </p:spPr>
        <p:txBody>
          <a:bodyPr xmlns:a="http://schemas.openxmlformats.org/drawingml/2006/main" wrap="square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F80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F80ED"/>
                </a:solidFill>
                <a:latin typeface="Arial Unicode MS"/>
                <a:ea typeface="Arial Unicode MS"/>
                <a:cs typeface="Arial Unicode MS"/>
              </a:rPr>
              <a:t>MCP 真实链路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5410CB-ACF7-4760-A000-EE46DFD2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33925"/>
            <a:ext cx="7810500" cy="3238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尚未验证外部 MCP server 的身份、授权和输出清洗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9380EC-ECE3-4E2E-B592-8200B56C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619750"/>
            <a:ext cx="7429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CA5A5"/>
            </a:solidFill>
          </a:ln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C2410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C2410C"/>
                </a:solidFill>
                <a:latin typeface="Arial Unicode MS"/>
                <a:ea typeface="Arial Unicode MS"/>
                <a:cs typeface="Arial Unicode MS"/>
              </a:rPr>
              <a:t>当前 balanced 剩余 27 个未符合预期场景；paranoid 剩余 14 个。</a:t>
            </a:r>
          </a:p>
        </p:txBody>
      </p:sp>
    </p:spTree>
    <p:extLst>
      <p:ext uri="{BB962C8B-B14F-4D97-AF65-F5344CB8AC3E}">
        <p14:creationId xmlns:p14="http://schemas.microsoft.com/office/powerpoint/2010/main" val="175150109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2F7D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C51B15-F10C-4258-890C-626BC9EB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/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46613-56B4-48FE-83BE-98F0667D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-1143000"/>
            <a:ext cx="51435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9D63"/>
          </a:solidFill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23448-DB30-4D99-AAAC-E6AF2DCA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D40"/>
          </a:solidFill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F8516-17D9-4794-AE47-96851ECD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9150"/>
            <a:ext cx="1143000" cy="342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4A56E-25A5-4938-871E-7C5BCD66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7905750" cy="11430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Agent-Firewall 将工具调用智能体的安全边界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85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从“模型自觉拒答”推进到“系统可证明门控”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B2809-0241-46CB-9DB3-E2407D83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04316-44F4-46DD-A04A-50CDBCD0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05150"/>
            <a:ext cx="742950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模型前输入扫描、工具前后双门控、人工审批和 Trace 证据链形成闭环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F1A67-41FC-41E8-854C-2B2B9327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6EED4-8E75-4A02-AD76-D8C999F6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10000"/>
            <a:ext cx="742950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OpenClaw skill、预留 MCP provider slot 和子 Agent 委派统一建模为受保护能力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7D16D-FF66-4347-AA07-BCFA26A7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29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5BA"/>
          </a:solidFill>
          <a:ln xmlns:a="http://schemas.openxmlformats.org/drawingml/2006/main" w="0"/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35176A-8970-452B-9053-FEA3D7FB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14850"/>
            <a:ext cx="742950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通过项目回归、工具链回放、映射评测和真实链路复测建立可复现实验证据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F31DB2-C80C-48FB-8B0B-B6807B59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4953000" cy="4191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谢谢各位老师，请批评指正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1E8DF-544F-41A9-BE25-DF0DCBF9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48400"/>
            <a:ext cx="49530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A8D5BA"/>
                </a:solidFill>
                <a:latin typeface="Arial Unicode MS"/>
                <a:ea typeface="Arial Unicode MS"/>
                <a:cs typeface="Arial Unicode MS"/>
              </a:rPr>
              <a:t>霍玮放  |  信息学院（人工智能学院）</a:t>
            </a:r>
          </a:p>
        </p:txBody>
      </p:sp>
    </p:spTree>
    <p:extLst>
      <p:ext uri="{BB962C8B-B14F-4D97-AF65-F5344CB8AC3E}">
        <p14:creationId xmlns:p14="http://schemas.microsoft.com/office/powerpoint/2010/main" val="16122828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2026-05-14T14:00:05.7490000Z</dcterms:created>
  <dcterms:modified xsi:type="dcterms:W3CDTF">2026-05-14T14:00:05.7490000Z</dcterms:modified>
</coreProperties>
</file>